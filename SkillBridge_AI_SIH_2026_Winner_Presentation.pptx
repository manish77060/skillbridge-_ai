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8686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0072CE"/>
                </a:solidFill>
              </a:defRPr>
            </a:pPr>
            <a:r>
              <a:t>SMART INDIA HACKATHON 2026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692640" y="320040"/>
            <a:ext cx="201168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300" b="1">
                <a:solidFill>
                  <a:srgbClr val="1E293B"/>
                </a:solidFill>
              </a:defRPr>
            </a:pPr>
            <a:r>
              <a:t>SMART INDIA</a:t>
            </a:r>
          </a:p>
          <a:p>
            <a:pPr algn="r">
              <a:defRPr sz="1300" b="1">
                <a:solidFill>
                  <a:srgbClr val="1E293B"/>
                </a:solidFill>
              </a:defRPr>
            </a:pPr>
            <a:r>
              <a:t>HACKATHON</a:t>
            </a:r>
          </a:p>
          <a:p>
            <a:pPr algn="r">
              <a:defRPr sz="1300" b="1">
                <a:solidFill>
                  <a:srgbClr val="0072CE"/>
                </a:solidFill>
              </a:defRPr>
            </a:pPr>
            <a:r>
              <a:t>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10698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0F2C59"/>
                </a:solidFill>
              </a:defRPr>
            </a:pPr>
            <a:r>
              <a:t>TITLE PAGE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7498079" cy="3840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 tIns="228600" rIns="320040"/>
          <a:lstStyle/>
          <a:p>
            <a:pPr algn="ctr"/>
            <a:r>
              <a:rPr b="1" sz="1400">
                <a:solidFill>
                  <a:srgbClr val="0F2C59"/>
                </a:solidFill>
              </a:rPr>
              <a:t>• </a:t>
            </a:r>
            <a:r>
              <a:rPr b="1" sz="1400">
                <a:solidFill>
                  <a:srgbClr val="0F2C59"/>
                </a:solidFill>
              </a:rPr>
              <a:t>Problem Statement ID – </a:t>
            </a:r>
            <a:r>
              <a:rPr sz="1350" b="1">
                <a:solidFill>
                  <a:srgbClr val="0072CE"/>
                </a:solidFill>
              </a:rPr>
              <a:t>SIH26044</a:t>
            </a:r>
          </a:p>
          <a:p>
            <a:pPr>
              <a:spcBef>
                <a:spcPts val="1200"/>
              </a:spcBef>
            </a:pPr>
            <a:r>
              <a:rPr b="1" sz="1400">
                <a:solidFill>
                  <a:srgbClr val="0F2C59"/>
                </a:solidFill>
              </a:rPr>
              <a:t>• </a:t>
            </a:r>
            <a:r>
              <a:rPr b="1" sz="1400">
                <a:solidFill>
                  <a:srgbClr val="0F2C59"/>
                </a:solidFill>
              </a:rPr>
              <a:t>Problem Statement Title – </a:t>
            </a:r>
            <a:r>
              <a:rPr sz="1350" b="0">
                <a:solidFill>
                  <a:srgbClr val="1E293B"/>
                </a:solidFill>
              </a:rPr>
              <a:t>Portal for Academia - Industry collaboration for Skill Mapping, Internships and Placement</a:t>
            </a:r>
          </a:p>
          <a:p>
            <a:pPr>
              <a:spcBef>
                <a:spcPts val="1200"/>
              </a:spcBef>
            </a:pPr>
            <a:r>
              <a:rPr b="1" sz="1400">
                <a:solidFill>
                  <a:srgbClr val="0F2C59"/>
                </a:solidFill>
              </a:rPr>
              <a:t>• </a:t>
            </a:r>
            <a:r>
              <a:rPr b="1" sz="1400">
                <a:solidFill>
                  <a:srgbClr val="0F2C59"/>
                </a:solidFill>
              </a:rPr>
              <a:t>Theme – </a:t>
            </a:r>
            <a:r>
              <a:rPr sz="1350" b="0">
                <a:solidFill>
                  <a:srgbClr val="1E293B"/>
                </a:solidFill>
              </a:rPr>
              <a:t>Smart Automation</a:t>
            </a:r>
          </a:p>
          <a:p>
            <a:pPr>
              <a:spcBef>
                <a:spcPts val="1200"/>
              </a:spcBef>
            </a:pPr>
            <a:r>
              <a:rPr b="1" sz="1400">
                <a:solidFill>
                  <a:srgbClr val="0F2C59"/>
                </a:solidFill>
              </a:rPr>
              <a:t>• </a:t>
            </a:r>
            <a:r>
              <a:rPr b="1" sz="1400">
                <a:solidFill>
                  <a:srgbClr val="0F2C59"/>
                </a:solidFill>
              </a:rPr>
              <a:t>PS Category – </a:t>
            </a:r>
            <a:r>
              <a:rPr sz="1350" b="0">
                <a:solidFill>
                  <a:srgbClr val="1E293B"/>
                </a:solidFill>
              </a:rPr>
              <a:t>Software</a:t>
            </a:r>
          </a:p>
          <a:p>
            <a:pPr>
              <a:spcBef>
                <a:spcPts val="1200"/>
              </a:spcBef>
            </a:pPr>
            <a:r>
              <a:rPr b="1" sz="1400">
                <a:solidFill>
                  <a:srgbClr val="0F2C59"/>
                </a:solidFill>
              </a:rPr>
              <a:t>• </a:t>
            </a:r>
            <a:r>
              <a:rPr b="1" sz="1400">
                <a:solidFill>
                  <a:srgbClr val="0F2C59"/>
                </a:solidFill>
              </a:rPr>
              <a:t>Team ID – </a:t>
            </a:r>
            <a:r>
              <a:rPr sz="1350" b="0">
                <a:solidFill>
                  <a:srgbClr val="1E293B"/>
                </a:solidFill>
              </a:rPr>
              <a:t>SIH2026-TEAM-APEX-44</a:t>
            </a:r>
          </a:p>
          <a:p>
            <a:pPr>
              <a:spcBef>
                <a:spcPts val="1200"/>
              </a:spcBef>
            </a:pPr>
            <a:r>
              <a:rPr b="1" sz="1400">
                <a:solidFill>
                  <a:srgbClr val="0F2C59"/>
                </a:solidFill>
              </a:rPr>
              <a:t>• </a:t>
            </a:r>
            <a:r>
              <a:rPr b="1" sz="1400">
                <a:solidFill>
                  <a:srgbClr val="0F2C59"/>
                </a:solidFill>
              </a:rPr>
              <a:t>Team Name (Registered on portal) – </a:t>
            </a:r>
            <a:r>
              <a:rPr sz="1350" b="1">
                <a:solidFill>
                  <a:srgbClr val="0072CE"/>
                </a:solidFill>
              </a:rPr>
              <a:t>Team Apex (Project: SkillBridge AI)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5623560"/>
            <a:ext cx="7498079" cy="685800"/>
          </a:xfrm>
          <a:prstGeom prst="round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tIns="109728"/>
          <a:lstStyle/>
          <a:p>
            <a:pPr algn="ctr">
              <a:defRPr sz="1100" b="1">
                <a:solidFill>
                  <a:srgbClr val="0F2C59"/>
                </a:solidFill>
              </a:defRPr>
            </a:pPr>
            <a:r>
              <a:t>Team Leader: Manish Yadav (Full-Stack &amp; System Lead) • Ministry of Ayush</a:t>
            </a:r>
          </a:p>
          <a:p>
            <a:pPr>
              <a:defRPr sz="950">
                <a:solidFill>
                  <a:srgbClr val="475569"/>
                </a:solidFill>
              </a:defRPr>
            </a:pPr>
            <a:r>
              <a:t>Team Capabilities: AI/NLP Engineering • FastAPI Microservices • pgvector • UI/UX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503920" y="1645920"/>
            <a:ext cx="2926080" cy="4663440"/>
          </a:xfrm>
          <a:prstGeom prst="round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9235440" y="2011680"/>
            <a:ext cx="1463040" cy="146304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0072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0072CE"/>
                </a:solidFill>
              </a:defRPr>
            </a:pPr>
            <a:r>
              <a:t>SIH</a:t>
            </a:r>
            <a:br/>
            <a:r>
              <a:t>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95360" y="3657600"/>
            <a:ext cx="274320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0F2C59"/>
                </a:solidFill>
              </a:defRPr>
            </a:pPr>
            <a:r>
              <a:t>SkillBridge AI</a:t>
            </a:r>
          </a:p>
          <a:p>
            <a:pPr algn="ctr">
              <a:spcBef>
                <a:spcPts val="600"/>
              </a:spcBef>
              <a:defRPr sz="1050">
                <a:solidFill>
                  <a:srgbClr val="475569"/>
                </a:solidFill>
              </a:defRPr>
            </a:pPr>
            <a:r>
              <a:t>National Skill Mapping, Verified Internships &amp; Career Analytics</a:t>
            </a:r>
          </a:p>
          <a:p>
            <a:pPr algn="ctr">
              <a:spcBef>
                <a:spcPts val="1200"/>
              </a:spcBef>
              <a:defRPr sz="1000" b="1">
                <a:solidFill>
                  <a:srgbClr val="10956A"/>
                </a:solidFill>
              </a:defRPr>
            </a:pPr>
            <a:r>
              <a:t>✓ 100% Paperless Logbook</a:t>
            </a:r>
            <a:br/>
            <a:r>
              <a:t>✓ AI Readiness Index (SRI)</a:t>
            </a:r>
            <a:br/>
            <a:r>
              <a:t>✓ Real-Time Syllabus Heatmap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365760" y="182880"/>
            <a:ext cx="1234440" cy="77724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072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09728"/>
          <a:lstStyle/>
          <a:p>
            <a:pPr algn="ctr">
              <a:defRPr sz="1100" b="1">
                <a:solidFill>
                  <a:srgbClr val="0F2C59"/>
                </a:solidFill>
              </a:defRPr>
            </a:pPr>
            <a:r>
              <a:t>Team</a:t>
            </a:r>
          </a:p>
          <a:p>
            <a:pPr algn="ctr">
              <a:defRPr sz="1100" b="1">
                <a:solidFill>
                  <a:srgbClr val="0072CE"/>
                </a:solidFill>
              </a:defRPr>
            </a:pPr>
            <a:r>
              <a:t>Apex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28800" y="182880"/>
            <a:ext cx="80467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0F2C59"/>
                </a:solidFill>
              </a:defRPr>
            </a:pPr>
            <a:r>
              <a:t>IDEA TITLE: SkillBridge 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875520" y="137160"/>
            <a:ext cx="2011680" cy="777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defRPr sz="1200" b="1">
                <a:solidFill>
                  <a:srgbClr val="1E293B"/>
                </a:solidFill>
              </a:defRPr>
            </a:pPr>
            <a:r>
              <a:t>SMART INDIA</a:t>
            </a:r>
          </a:p>
          <a:p>
            <a:pPr algn="r">
              <a:defRPr sz="1200" b="1">
                <a:solidFill>
                  <a:srgbClr val="1E293B"/>
                </a:solidFill>
              </a:defRPr>
            </a:pPr>
            <a:r>
              <a:t>HACKATHON</a:t>
            </a:r>
          </a:p>
          <a:p>
            <a:pPr algn="r">
              <a:defRPr sz="1200" b="1">
                <a:solidFill>
                  <a:srgbClr val="0072CE"/>
                </a:solidFill>
              </a:defRPr>
            </a:pPr>
            <a:r>
              <a:t>2026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0072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6510528"/>
            <a:ext cx="6400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FFFFFF"/>
                </a:solidFill>
              </a:defRPr>
            </a:pPr>
            <a:r>
              <a:t>SkillBridge AI • Ministry of Ayush • Problem Statement ID: SIH26044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47120" y="6473952"/>
            <a:ext cx="731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051560"/>
            <a:ext cx="10728655" cy="502920"/>
          </a:xfrm>
          <a:prstGeom prst="roundRect">
            <a:avLst/>
          </a:prstGeom>
          <a:solidFill>
            <a:srgbClr val="ECFDF5"/>
          </a:solidFill>
          <a:ln w="19050">
            <a:solidFill>
              <a:srgbClr val="1095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50" b="1">
                <a:solidFill>
                  <a:srgbClr val="0F2C59"/>
                </a:solidFill>
              </a:defRPr>
            </a:pPr>
            <a:r>
              <a:t>💡 Big Idea: An AI-driven ecosystem connecting Students, Academia, and Industry through verified skills, digital QR logbooks, and instant role matching.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691640"/>
            <a:ext cx="5486400" cy="457200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/>
          <a:lstStyle/>
          <a:p>
            <a:pPr algn="ctr">
              <a:defRPr sz="1250" b="1">
                <a:solidFill>
                  <a:srgbClr val="0072CE"/>
                </a:solidFill>
              </a:defRPr>
            </a:pPr>
            <a:r>
              <a:t>1. Proposed Solution (Crisp &amp; Modular)</a:t>
            </a:r>
          </a:p>
          <a:p>
            <a:pPr>
              <a:spcBef>
                <a:spcPts val="300"/>
              </a:spcBef>
            </a:pPr>
            <a:r>
              <a:rPr b="1" sz="1000">
                <a:solidFill>
                  <a:srgbClr val="0F2C59"/>
                </a:solidFill>
              </a:rPr>
              <a:t>• Tri-Party Web Platform: </a:t>
            </a:r>
            <a:r>
              <a:rPr sz="950">
                <a:solidFill>
                  <a:srgbClr val="1E293B"/>
                </a:solidFill>
              </a:rPr>
              <a:t>Single portal unifying Students, College HODs, and Industry Recruiters.</a:t>
            </a:r>
          </a:p>
          <a:p>
            <a:pPr>
              <a:spcBef>
                <a:spcPts val="300"/>
              </a:spcBef>
            </a:pPr>
            <a:r>
              <a:rPr b="1" sz="1000">
                <a:solidFill>
                  <a:srgbClr val="0F2C59"/>
                </a:solidFill>
              </a:rPr>
              <a:t>• AI Skill Readiness Index (SRI): </a:t>
            </a:r>
            <a:r>
              <a:rPr sz="950">
                <a:solidFill>
                  <a:srgbClr val="1E293B"/>
                </a:solidFill>
              </a:rPr>
              <a:t>Transparent 0-100% score based on courses, verified lab hours, and projects.</a:t>
            </a:r>
          </a:p>
          <a:p>
            <a:pPr>
              <a:spcBef>
                <a:spcPts val="300"/>
              </a:spcBef>
            </a:pPr>
            <a:r>
              <a:rPr b="1" sz="1000">
                <a:solidFill>
                  <a:srgbClr val="0F2C59"/>
                </a:solidFill>
              </a:rPr>
              <a:t>• Verified Digital Logbook: </a:t>
            </a:r>
            <a:r>
              <a:rPr sz="950">
                <a:solidFill>
                  <a:srgbClr val="1E293B"/>
                </a:solidFill>
              </a:rPr>
              <a:t>Mentor-signed daily internship tasks with instant QR verification.</a:t>
            </a:r>
          </a:p>
          <a:p>
            <a:pPr>
              <a:spcBef>
                <a:spcPts val="800"/>
              </a:spcBef>
              <a:defRPr sz="1250" b="1">
                <a:solidFill>
                  <a:srgbClr val="0072CE"/>
                </a:solidFill>
              </a:defRPr>
            </a:pPr>
            <a:r>
              <a:t>2. Problem–Solution Fit (Direct Mapping)</a:t>
            </a:r>
          </a:p>
          <a:p>
            <a:pPr>
              <a:spcBef>
                <a:spcPts val="200"/>
              </a:spcBef>
            </a:pPr>
            <a:r>
              <a:rPr sz="900">
                <a:solidFill>
                  <a:srgbClr val="E11D48"/>
                </a:solidFill>
              </a:rPr>
              <a:t>❌ Gap: Outdated Syllabus</a:t>
            </a:r>
            <a:r>
              <a:rPr b="1" sz="900">
                <a:solidFill>
                  <a:srgbClr val="475569"/>
                </a:solidFill>
              </a:rPr>
              <a:t> ➔ </a:t>
            </a:r>
            <a:r>
              <a:rPr b="1" sz="900">
                <a:solidFill>
                  <a:srgbClr val="10956A"/>
                </a:solidFill>
              </a:rPr>
              <a:t>✅ Real-time industry skill gap heatmaps for Deans</a:t>
            </a:r>
          </a:p>
          <a:p>
            <a:pPr>
              <a:spcBef>
                <a:spcPts val="200"/>
              </a:spcBef>
            </a:pPr>
            <a:r>
              <a:rPr sz="900">
                <a:solidFill>
                  <a:srgbClr val="E11D48"/>
                </a:solidFill>
              </a:rPr>
              <a:t>❌ Gap: Counterfeit Certificates</a:t>
            </a:r>
            <a:r>
              <a:rPr b="1" sz="900">
                <a:solidFill>
                  <a:srgbClr val="475569"/>
                </a:solidFill>
              </a:rPr>
              <a:t> ➔ </a:t>
            </a:r>
            <a:r>
              <a:rPr b="1" sz="900">
                <a:solidFill>
                  <a:srgbClr val="10956A"/>
                </a:solidFill>
              </a:rPr>
              <a:t>✅ Cryptographically signed QR logbooks</a:t>
            </a:r>
          </a:p>
          <a:p>
            <a:pPr>
              <a:spcBef>
                <a:spcPts val="200"/>
              </a:spcBef>
            </a:pPr>
            <a:r>
              <a:rPr sz="900">
                <a:solidFill>
                  <a:srgbClr val="E11D48"/>
                </a:solidFill>
              </a:rPr>
              <a:t>❌ Gap: 65+ Day Hiring Cycles</a:t>
            </a:r>
            <a:r>
              <a:rPr b="1" sz="900">
                <a:solidFill>
                  <a:srgbClr val="475569"/>
                </a:solidFill>
              </a:rPr>
              <a:t> ➔ </a:t>
            </a:r>
            <a:r>
              <a:rPr b="1" sz="900">
                <a:solidFill>
                  <a:srgbClr val="10956A"/>
                </a:solidFill>
              </a:rPr>
              <a:t>✅ AI semantic vector matching in &lt; 45 ms</a:t>
            </a:r>
          </a:p>
          <a:p>
            <a:pPr>
              <a:spcBef>
                <a:spcPts val="800"/>
              </a:spcBef>
              <a:defRPr sz="1250" b="1">
                <a:solidFill>
                  <a:srgbClr val="0072CE"/>
                </a:solidFill>
              </a:defRPr>
            </a:pPr>
            <a:r>
              <a:t>3. Innovation &amp; Uniqueness (Why It Stands Out)</a:t>
            </a:r>
          </a:p>
          <a:p>
            <a:pPr>
              <a:spcBef>
                <a:spcPts val="300"/>
              </a:spcBef>
            </a:pPr>
            <a:r>
              <a:rPr b="1" sz="1000">
                <a:solidFill>
                  <a:srgbClr val="0F2C59"/>
                </a:solidFill>
              </a:rPr>
              <a:t>• Domain-Specific AI Ontology: </a:t>
            </a:r>
            <a:r>
              <a:rPr sz="950">
                <a:solidFill>
                  <a:srgbClr val="1E293B"/>
                </a:solidFill>
              </a:rPr>
              <a:t>Bridges traditional academic terms with modern industrial standards.</a:t>
            </a:r>
          </a:p>
          <a:p>
            <a:pPr>
              <a:spcBef>
                <a:spcPts val="300"/>
              </a:spcBef>
            </a:pPr>
            <a:r>
              <a:rPr b="1" sz="1000">
                <a:solidFill>
                  <a:srgbClr val="0F2C59"/>
                </a:solidFill>
              </a:rPr>
              <a:t>• Explainable Scoring: </a:t>
            </a:r>
            <a:r>
              <a:rPr sz="950">
                <a:solidFill>
                  <a:srgbClr val="1E293B"/>
                </a:solidFill>
              </a:rPr>
              <a:t>SRI = 40% Coursework + 35% Lab Hours + 25% Assessments (No black-box).</a:t>
            </a:r>
          </a:p>
          <a:p>
            <a:pPr>
              <a:spcBef>
                <a:spcPts val="300"/>
              </a:spcBef>
            </a:pPr>
            <a:r>
              <a:rPr b="1" sz="1000">
                <a:solidFill>
                  <a:srgbClr val="0F2C59"/>
                </a:solidFill>
              </a:rPr>
              <a:t>• Closed-Loop Feedback: </a:t>
            </a:r>
            <a:r>
              <a:rPr sz="950">
                <a:solidFill>
                  <a:srgbClr val="1E293B"/>
                </a:solidFill>
              </a:rPr>
              <a:t>Recruiter hiring searches directly pinpoint college syllabus deficiencies.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46520" y="1691640"/>
            <a:ext cx="5010912" cy="4572000"/>
          </a:xfrm>
          <a:prstGeom prst="round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583680" y="1783080"/>
            <a:ext cx="4736592" cy="365760"/>
          </a:xfrm>
          <a:prstGeom prst="roundRect">
            <a:avLst/>
          </a:prstGeom>
          <a:solidFill>
            <a:srgbClr val="0F2C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📱 Live Prototype Wireframe — Student &amp; Recruiter Portal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83680" y="2240280"/>
            <a:ext cx="4736592" cy="11887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72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tIns="109728"/>
          <a:lstStyle/>
          <a:p>
            <a:pPr algn="ctr">
              <a:defRPr b="1" sz="1050">
                <a:solidFill>
                  <a:srgbClr val="0F2C59"/>
                </a:solidFill>
              </a:defRPr>
            </a:pPr>
            <a:r>
              <a:t>Student Dashboard: Ayush Sharma (Final Year)</a:t>
            </a:r>
          </a:p>
          <a:p>
            <a:pPr>
              <a:defRPr b="1" sz="950">
                <a:solidFill>
                  <a:srgbClr val="10956A"/>
                </a:solidFill>
              </a:defRPr>
            </a:pPr>
            <a:r>
              <a:t>• AI Skill Readiness Index (SRI):  88% [Role: Quality Analyst]</a:t>
            </a:r>
          </a:p>
          <a:p>
            <a:pPr>
              <a:defRPr sz="850">
                <a:solidFill>
                  <a:srgbClr val="475569"/>
                </a:solidFill>
              </a:defRPr>
            </a:pPr>
            <a:r>
              <a:t>• Verified Logbook: 180 Hrs Validated | 4 Case Studies | Digital QR Active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83680" y="3520440"/>
            <a:ext cx="4736592" cy="11887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A58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tIns="109728"/>
          <a:lstStyle/>
          <a:p>
            <a:pPr algn="ctr">
              <a:defRPr b="1" sz="1050">
                <a:solidFill>
                  <a:srgbClr val="0F2C59"/>
                </a:solidFill>
              </a:defRPr>
            </a:pPr>
            <a:r>
              <a:t>Recruiter ATS: Dabur Research Labs</a:t>
            </a:r>
          </a:p>
          <a:p>
            <a:pPr>
              <a:defRPr b="1" sz="950">
                <a:solidFill>
                  <a:srgbClr val="EA580C"/>
                </a:solidFill>
              </a:defRPr>
            </a:pPr>
            <a:r>
              <a:t>• Filter: 'GMP &amp; HPLC Extraction' ➔ 14 Candidates Found (Latency: 38ms)</a:t>
            </a:r>
          </a:p>
          <a:p>
            <a:pPr>
              <a:defRPr sz="850">
                <a:solidFill>
                  <a:srgbClr val="475569"/>
                </a:solidFill>
              </a:defRPr>
            </a:pPr>
            <a:r>
              <a:t>• 1-Click Offer Dispatch | Pre-Vetted Practical Competencies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0" y="4800600"/>
            <a:ext cx="4736592" cy="12801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6D28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tIns="109728"/>
          <a:lstStyle/>
          <a:p>
            <a:pPr algn="ctr">
              <a:defRPr b="1" sz="1050">
                <a:solidFill>
                  <a:srgbClr val="0F2C59"/>
                </a:solidFill>
              </a:defRPr>
            </a:pPr>
            <a:r>
              <a:t>College Dean Analytics: Curriculum Gap Alert</a:t>
            </a:r>
          </a:p>
          <a:p>
            <a:pPr>
              <a:defRPr b="1" sz="950">
                <a:solidFill>
                  <a:srgbClr val="6D28D9"/>
                </a:solidFill>
              </a:defRPr>
            </a:pPr>
            <a:r>
              <a:t>• Alert: 64% Recruiter Demand for Phytopharma QC vs 20% Syllabus Coverage</a:t>
            </a:r>
          </a:p>
          <a:p>
            <a:pPr>
              <a:defRPr sz="850">
                <a:solidFill>
                  <a:srgbClr val="475569"/>
                </a:solidFill>
              </a:defRPr>
            </a:pPr>
            <a:r>
              <a:t>• Action: Auto-generated NAAC/NIRF report &amp; module update proposal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365760" y="182880"/>
            <a:ext cx="1234440" cy="77724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072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09728"/>
          <a:lstStyle/>
          <a:p>
            <a:pPr algn="ctr">
              <a:defRPr sz="1100" b="1">
                <a:solidFill>
                  <a:srgbClr val="0F2C59"/>
                </a:solidFill>
              </a:defRPr>
            </a:pPr>
            <a:r>
              <a:t>Team</a:t>
            </a:r>
          </a:p>
          <a:p>
            <a:pPr algn="ctr">
              <a:defRPr sz="1100" b="1">
                <a:solidFill>
                  <a:srgbClr val="0072CE"/>
                </a:solidFill>
              </a:defRPr>
            </a:pPr>
            <a:r>
              <a:t>Apex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28800" y="182880"/>
            <a:ext cx="80467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0F2C59"/>
                </a:solidFill>
              </a:defRPr>
            </a:pPr>
            <a:r>
              <a:t>TECHNICAL APPROACH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875520" y="137160"/>
            <a:ext cx="2011680" cy="777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defRPr sz="1200" b="1">
                <a:solidFill>
                  <a:srgbClr val="1E293B"/>
                </a:solidFill>
              </a:defRPr>
            </a:pPr>
            <a:r>
              <a:t>SMART INDIA</a:t>
            </a:r>
          </a:p>
          <a:p>
            <a:pPr algn="r">
              <a:defRPr sz="1200" b="1">
                <a:solidFill>
                  <a:srgbClr val="1E293B"/>
                </a:solidFill>
              </a:defRPr>
            </a:pPr>
            <a:r>
              <a:t>HACKATHON</a:t>
            </a:r>
          </a:p>
          <a:p>
            <a:pPr algn="r">
              <a:defRPr sz="1200" b="1">
                <a:solidFill>
                  <a:srgbClr val="0072CE"/>
                </a:solidFill>
              </a:defRPr>
            </a:pPr>
            <a:r>
              <a:t>2026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0072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6510528"/>
            <a:ext cx="6400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FFFFFF"/>
                </a:solidFill>
              </a:defRPr>
            </a:pPr>
            <a:r>
              <a:t>SkillBridge AI • Ministry of Ayush • Problem Statement ID: SIH26044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47120" y="6473952"/>
            <a:ext cx="731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051560"/>
            <a:ext cx="10728655" cy="411480"/>
          </a:xfrm>
          <a:prstGeom prst="round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0F2C59"/>
                </a:solidFill>
              </a:defRPr>
            </a:pPr>
            <a:r>
              <a:t>⚙️ Modular Architecture: Real-Time Vector Matching, Microservices &amp; Cryptographic Validation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600200"/>
            <a:ext cx="3383280" cy="26974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72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/>
          <a:lstStyle/>
          <a:p>
            <a:pPr algn="ctr">
              <a:defRPr sz="1200" b="1">
                <a:solidFill>
                  <a:srgbClr val="0072CE"/>
                </a:solidFill>
              </a:defRPr>
            </a:pPr>
            <a:r>
              <a:t>📥 INPUT LAYER</a:t>
            </a:r>
          </a:p>
          <a:p>
            <a:pPr>
              <a:spcBef>
                <a:spcPts val="500"/>
              </a:spcBef>
            </a:pPr>
            <a:r>
              <a:rPr b="1" sz="950">
                <a:solidFill>
                  <a:srgbClr val="0F2C59"/>
                </a:solidFill>
              </a:rPr>
              <a:t>• Student Data: </a:t>
            </a:r>
            <a:r>
              <a:rPr sz="900">
                <a:solidFill>
                  <a:srgbClr val="1E293B"/>
                </a:solidFill>
              </a:rPr>
              <a:t>Syllabus courses, clinical log hours, project badges &amp; transcripts.</a:t>
            </a:r>
          </a:p>
          <a:p>
            <a:pPr>
              <a:spcBef>
                <a:spcPts val="500"/>
              </a:spcBef>
            </a:pPr>
            <a:r>
              <a:rPr b="1" sz="950">
                <a:solidFill>
                  <a:srgbClr val="0F2C59"/>
                </a:solidFill>
              </a:rPr>
              <a:t>• Recruiter Requirements: </a:t>
            </a:r>
            <a:r>
              <a:rPr sz="900">
                <a:solidFill>
                  <a:srgbClr val="1E293B"/>
                </a:solidFill>
              </a:rPr>
              <a:t>Job role competencies, required lab techniques, min SRI.</a:t>
            </a:r>
          </a:p>
          <a:p>
            <a:pPr>
              <a:spcBef>
                <a:spcPts val="500"/>
              </a:spcBef>
            </a:pPr>
            <a:r>
              <a:rPr b="1" sz="950">
                <a:solidFill>
                  <a:srgbClr val="0F2C59"/>
                </a:solidFill>
              </a:rPr>
              <a:t>• Academic Framework: </a:t>
            </a:r>
            <a:r>
              <a:rPr sz="900">
                <a:solidFill>
                  <a:srgbClr val="1E293B"/>
                </a:solidFill>
              </a:rPr>
              <a:t>NCISM competency curriculum &amp; university guidelines.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4160520" y="2743200"/>
            <a:ext cx="228600" cy="320040"/>
          </a:xfrm>
          <a:prstGeom prst="rightArrow">
            <a:avLst/>
          </a:prstGeom>
          <a:solidFill>
            <a:srgbClr val="0072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434840" y="1600200"/>
            <a:ext cx="3383280" cy="26974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6D28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/>
          <a:lstStyle/>
          <a:p>
            <a:pPr algn="ctr">
              <a:defRPr sz="1200" b="1">
                <a:solidFill>
                  <a:srgbClr val="6D28D9"/>
                </a:solidFill>
              </a:defRPr>
            </a:pPr>
            <a:r>
              <a:t>⚡ AI PROCESSING ENGINE</a:t>
            </a:r>
          </a:p>
          <a:p>
            <a:pPr>
              <a:spcBef>
                <a:spcPts val="400"/>
              </a:spcBef>
            </a:pPr>
            <a:r>
              <a:rPr b="1" sz="950">
                <a:solidFill>
                  <a:srgbClr val="0F2C59"/>
                </a:solidFill>
              </a:rPr>
              <a:t>• NLP Skill Extraction: </a:t>
            </a:r>
            <a:r>
              <a:rPr sz="900">
                <a:solidFill>
                  <a:srgbClr val="1E293B"/>
                </a:solidFill>
              </a:rPr>
              <a:t>Sentence-BERT model generates 384-dim semantic embeddings.</a:t>
            </a:r>
          </a:p>
          <a:p>
            <a:pPr>
              <a:spcBef>
                <a:spcPts val="400"/>
              </a:spcBef>
            </a:pPr>
            <a:r>
              <a:rPr b="1" sz="950">
                <a:solidFill>
                  <a:srgbClr val="0F2C59"/>
                </a:solidFill>
              </a:rPr>
              <a:t>• Vector Search: </a:t>
            </a:r>
            <a:r>
              <a:rPr sz="900">
                <a:solidFill>
                  <a:srgbClr val="1E293B"/>
                </a:solidFill>
              </a:rPr>
              <a:t>PostgreSQL pgvector (HNSW Indexing) matches profiles in &lt; 45 ms.</a:t>
            </a:r>
          </a:p>
          <a:p>
            <a:pPr>
              <a:spcBef>
                <a:spcPts val="400"/>
              </a:spcBef>
            </a:pPr>
            <a:r>
              <a:rPr b="1" sz="950">
                <a:solidFill>
                  <a:srgbClr val="0F2C59"/>
                </a:solidFill>
              </a:rPr>
              <a:t>• SRI Scoring Engine: </a:t>
            </a:r>
            <a:r>
              <a:rPr sz="900">
                <a:solidFill>
                  <a:srgbClr val="1E293B"/>
                </a:solidFill>
              </a:rPr>
              <a:t>SRI = 40% Course + 35% Lab + 25% Assessment.</a:t>
            </a:r>
          </a:p>
          <a:p>
            <a:pPr>
              <a:spcBef>
                <a:spcPts val="400"/>
              </a:spcBef>
            </a:pPr>
            <a:r>
              <a:rPr b="1" sz="950">
                <a:solidFill>
                  <a:srgbClr val="0F2C59"/>
                </a:solidFill>
              </a:rPr>
              <a:t>• Verification Engine: </a:t>
            </a:r>
            <a:r>
              <a:rPr sz="900">
                <a:solidFill>
                  <a:srgbClr val="1E293B"/>
                </a:solidFill>
              </a:rPr>
              <a:t>SHA-256 digital hash verification on mentor sign-offs.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7863840" y="2743200"/>
            <a:ext cx="228600" cy="320040"/>
          </a:xfrm>
          <a:prstGeom prst="rightArrow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8138160" y="1600200"/>
            <a:ext cx="3383280" cy="26974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095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/>
          <a:lstStyle/>
          <a:p>
            <a:pPr algn="ctr">
              <a:defRPr sz="1200" b="1">
                <a:solidFill>
                  <a:srgbClr val="10956A"/>
                </a:solidFill>
              </a:defRPr>
            </a:pPr>
            <a:r>
              <a:t>📤 OUTPUT DELIVERABLES</a:t>
            </a:r>
          </a:p>
          <a:p>
            <a:pPr>
              <a:spcBef>
                <a:spcPts val="500"/>
              </a:spcBef>
            </a:pPr>
            <a:r>
              <a:rPr b="1" sz="950">
                <a:solidFill>
                  <a:srgbClr val="0F2C59"/>
                </a:solidFill>
              </a:rPr>
              <a:t>• Student: </a:t>
            </a:r>
            <a:r>
              <a:rPr sz="900">
                <a:solidFill>
                  <a:srgbClr val="1E293B"/>
                </a:solidFill>
              </a:rPr>
              <a:t>Individual Skill Readiness Score &amp; personalized gap bridge courses.</a:t>
            </a:r>
          </a:p>
          <a:p>
            <a:pPr>
              <a:spcBef>
                <a:spcPts val="500"/>
              </a:spcBef>
            </a:pPr>
            <a:r>
              <a:rPr b="1" sz="950">
                <a:solidFill>
                  <a:srgbClr val="0F2C59"/>
                </a:solidFill>
              </a:rPr>
              <a:t>• Recruiter: </a:t>
            </a:r>
            <a:r>
              <a:rPr sz="900">
                <a:solidFill>
                  <a:srgbClr val="1E293B"/>
                </a:solidFill>
              </a:rPr>
              <a:t>Ranked shortlist of verified candidates with authenticated skills.</a:t>
            </a:r>
          </a:p>
          <a:p>
            <a:pPr>
              <a:spcBef>
                <a:spcPts val="500"/>
              </a:spcBef>
            </a:pPr>
            <a:r>
              <a:rPr b="1" sz="950">
                <a:solidFill>
                  <a:srgbClr val="0F2C59"/>
                </a:solidFill>
              </a:rPr>
              <a:t>• Institution: </a:t>
            </a:r>
            <a:r>
              <a:rPr sz="900">
                <a:solidFill>
                  <a:srgbClr val="1E293B"/>
                </a:solidFill>
              </a:rPr>
              <a:t>Automated NAAC/NIRF reports &amp; real-time curriculum gap heatmaps.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4434840"/>
            <a:ext cx="10728655" cy="1828800"/>
          </a:xfrm>
          <a:prstGeom prst="round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4498848"/>
            <a:ext cx="103327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 b="1">
                <a:solidFill>
                  <a:srgbClr val="0F2C59"/>
                </a:solidFill>
              </a:defRPr>
            </a:pPr>
            <a:r>
              <a:t>🛠️ Production Tech Stack &amp; Architecture Components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14400" y="4846320"/>
            <a:ext cx="2423160" cy="12801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72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91440"/>
          <a:lstStyle/>
          <a:p>
            <a:pPr algn="ctr">
              <a:defRPr b="1" sz="1000">
                <a:solidFill>
                  <a:srgbClr val="0072CE"/>
                </a:solidFill>
              </a:defRPr>
            </a:pPr>
            <a:r>
              <a:t>Client &amp; UI</a:t>
            </a:r>
          </a:p>
          <a:p>
            <a:pPr algn="ctr">
              <a:spcBef>
                <a:spcPts val="400"/>
              </a:spcBef>
              <a:defRPr sz="850">
                <a:solidFill>
                  <a:srgbClr val="1E293B"/>
                </a:solidFill>
              </a:defRPr>
            </a:pPr>
            <a:r>
              <a:t>React 18 / Next.js 14</a:t>
            </a:r>
            <a:br/>
            <a:r>
              <a:t>Tailwind CSS, TypeScript</a:t>
            </a:r>
            <a:br/>
            <a:r>
              <a:t>Responsive Mobile PWA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520440" y="4846320"/>
            <a:ext cx="2423160" cy="12801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6D28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91440"/>
          <a:lstStyle/>
          <a:p>
            <a:pPr algn="ctr">
              <a:defRPr b="1" sz="1000">
                <a:solidFill>
                  <a:srgbClr val="6D28D9"/>
                </a:solidFill>
              </a:defRPr>
            </a:pPr>
            <a:r>
              <a:t>Backend Services</a:t>
            </a:r>
          </a:p>
          <a:p>
            <a:pPr algn="ctr">
              <a:spcBef>
                <a:spcPts val="400"/>
              </a:spcBef>
              <a:defRPr sz="850">
                <a:solidFill>
                  <a:srgbClr val="1E293B"/>
                </a:solidFill>
              </a:defRPr>
            </a:pPr>
            <a:r>
              <a:t>Python 3.11 FastAPI</a:t>
            </a:r>
            <a:br/>
            <a:r>
              <a:t>Asynchronous REST APIs</a:t>
            </a:r>
            <a:br/>
            <a:r>
              <a:t>JWT Role-Based Security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26480" y="4846320"/>
            <a:ext cx="2423160" cy="12801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095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91440"/>
          <a:lstStyle/>
          <a:p>
            <a:pPr algn="ctr">
              <a:defRPr b="1" sz="1000">
                <a:solidFill>
                  <a:srgbClr val="10956A"/>
                </a:solidFill>
              </a:defRPr>
            </a:pPr>
            <a:r>
              <a:t>AI &amp; Vector Search</a:t>
            </a:r>
          </a:p>
          <a:p>
            <a:pPr algn="ctr">
              <a:spcBef>
                <a:spcPts val="400"/>
              </a:spcBef>
              <a:defRPr sz="850">
                <a:solidFill>
                  <a:srgbClr val="1E293B"/>
                </a:solidFill>
              </a:defRPr>
            </a:pPr>
            <a:r>
              <a:t>Sentence-Transformers</a:t>
            </a:r>
            <a:br/>
            <a:r>
              <a:t>all-MiniLM-L6-v2 (384-dim)</a:t>
            </a:r>
            <a:br/>
            <a:r>
              <a:t>PyTorch &amp; SpaCy NLP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732520" y="4846320"/>
            <a:ext cx="2423160" cy="12801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A58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91440"/>
          <a:lstStyle/>
          <a:p>
            <a:pPr algn="ctr">
              <a:defRPr b="1" sz="1000">
                <a:solidFill>
                  <a:srgbClr val="EA580C"/>
                </a:solidFill>
              </a:defRPr>
            </a:pPr>
            <a:r>
              <a:t>Database &amp; Cloud</a:t>
            </a:r>
          </a:p>
          <a:p>
            <a:pPr algn="ctr">
              <a:spcBef>
                <a:spcPts val="400"/>
              </a:spcBef>
              <a:defRPr sz="850">
                <a:solidFill>
                  <a:srgbClr val="1E293B"/>
                </a:solidFill>
              </a:defRPr>
            </a:pPr>
            <a:r>
              <a:t>PostgreSQL 16 + pgvector</a:t>
            </a:r>
            <a:br/>
            <a:r>
              <a:t>Redis Cache, Docker</a:t>
            </a:r>
            <a:br/>
            <a:r>
              <a:t>NIC Cloud / DPDP 2023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365760" y="182880"/>
            <a:ext cx="1234440" cy="77724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072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09728"/>
          <a:lstStyle/>
          <a:p>
            <a:pPr algn="ctr">
              <a:defRPr sz="1100" b="1">
                <a:solidFill>
                  <a:srgbClr val="0F2C59"/>
                </a:solidFill>
              </a:defRPr>
            </a:pPr>
            <a:r>
              <a:t>Team</a:t>
            </a:r>
          </a:p>
          <a:p>
            <a:pPr algn="ctr">
              <a:defRPr sz="1100" b="1">
                <a:solidFill>
                  <a:srgbClr val="0072CE"/>
                </a:solidFill>
              </a:defRPr>
            </a:pPr>
            <a:r>
              <a:t>Apex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28800" y="182880"/>
            <a:ext cx="80467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0F2C59"/>
                </a:solidFill>
              </a:defRPr>
            </a:pPr>
            <a:r>
              <a:t>FEASIBILITY AND VIABILITY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875520" y="137160"/>
            <a:ext cx="2011680" cy="777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defRPr sz="1200" b="1">
                <a:solidFill>
                  <a:srgbClr val="1E293B"/>
                </a:solidFill>
              </a:defRPr>
            </a:pPr>
            <a:r>
              <a:t>SMART INDIA</a:t>
            </a:r>
          </a:p>
          <a:p>
            <a:pPr algn="r">
              <a:defRPr sz="1200" b="1">
                <a:solidFill>
                  <a:srgbClr val="1E293B"/>
                </a:solidFill>
              </a:defRPr>
            </a:pPr>
            <a:r>
              <a:t>HACKATHON</a:t>
            </a:r>
          </a:p>
          <a:p>
            <a:pPr algn="r">
              <a:defRPr sz="1200" b="1">
                <a:solidFill>
                  <a:srgbClr val="0072CE"/>
                </a:solidFill>
              </a:defRPr>
            </a:pPr>
            <a:r>
              <a:t>2026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0072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6510528"/>
            <a:ext cx="6400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FFFFFF"/>
                </a:solidFill>
              </a:defRPr>
            </a:pPr>
            <a:r>
              <a:t>SkillBridge AI • Ministry of Ayush • Problem Statement ID: SIH26044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47120" y="6473952"/>
            <a:ext cx="731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051560"/>
            <a:ext cx="3429000" cy="15087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72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09728"/>
          <a:lstStyle/>
          <a:p>
            <a:pPr algn="ctr">
              <a:defRPr b="1" sz="1100">
                <a:solidFill>
                  <a:srgbClr val="0072CE"/>
                </a:solidFill>
              </a:defRPr>
            </a:pPr>
            <a:r>
              <a:t>🔧 Technical Feasibility</a:t>
            </a:r>
          </a:p>
          <a:p>
            <a:pPr>
              <a:spcBef>
                <a:spcPts val="400"/>
              </a:spcBef>
              <a:defRPr sz="850">
                <a:solidFill>
                  <a:srgbClr val="1E293B"/>
                </a:solidFill>
              </a:defRPr>
            </a:pPr>
            <a:r>
              <a:t>• Built on proven open-source stack (FastAPI, pgvector, Next.js).</a:t>
            </a:r>
            <a:br/>
            <a:r>
              <a:t>• Zero recurring proprietary AI licensing costs.</a:t>
            </a:r>
            <a:br/>
            <a:r>
              <a:t>• Tested prototype delivers sub-45ms search latency on 500+ records.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1051560"/>
            <a:ext cx="3429000" cy="15087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6D28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09728"/>
          <a:lstStyle/>
          <a:p>
            <a:pPr algn="ctr">
              <a:defRPr b="1" sz="1100">
                <a:solidFill>
                  <a:srgbClr val="6D28D9"/>
                </a:solidFill>
              </a:defRPr>
            </a:pPr>
            <a:r>
              <a:t>👥 Team &amp; Skill Feasibility</a:t>
            </a:r>
          </a:p>
          <a:p>
            <a:pPr>
              <a:spcBef>
                <a:spcPts val="400"/>
              </a:spcBef>
              <a:defRPr sz="850">
                <a:solidFill>
                  <a:srgbClr val="1E293B"/>
                </a:solidFill>
              </a:defRPr>
            </a:pPr>
            <a:r>
              <a:t>• Manish Yadav (Full-Stack Architecture &amp; DB).</a:t>
            </a:r>
            <a:br/>
            <a:r>
              <a:t>• In-house AI/ML NLP expertise for fine-tuning embeddings.</a:t>
            </a:r>
            <a:br/>
            <a:r>
              <a:t>• Direct alignment with NCISM curriculum and NEP guidelines.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46720" y="1051560"/>
            <a:ext cx="3429000" cy="15087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095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09728"/>
          <a:lstStyle/>
          <a:p>
            <a:pPr algn="ctr">
              <a:defRPr b="1" sz="1100">
                <a:solidFill>
                  <a:srgbClr val="10956A"/>
                </a:solidFill>
              </a:defRPr>
            </a:pPr>
            <a:r>
              <a:t>💰 Economic &amp; Scaling Viability</a:t>
            </a:r>
          </a:p>
          <a:p>
            <a:pPr>
              <a:spcBef>
                <a:spcPts val="400"/>
              </a:spcBef>
              <a:defRPr sz="850">
                <a:solidFill>
                  <a:srgbClr val="1E293B"/>
                </a:solidFill>
              </a:defRPr>
            </a:pPr>
            <a:r>
              <a:t>• 100% Free for students to build profiles and apply.</a:t>
            </a:r>
            <a:br/>
            <a:r>
              <a:t>• Low-cost SaaS model for colleges (NAAC compliance).</a:t>
            </a:r>
            <a:br/>
            <a:r>
              <a:t>• Lightweight compute runs easily on NIC Gov Cloud (&lt; ₹8k/month).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731520" y="2697480"/>
          <a:ext cx="10728655" cy="3566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754880"/>
                <a:gridCol w="5973775"/>
              </a:tblGrid>
              <a:tr h="713232">
                <a:tc>
                  <a:txBody>
                    <a:bodyPr lIns="182880" tIns="91440"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⚠️ Top Realistic Challenges &amp; Risks</a:t>
                      </a:r>
                    </a:p>
                  </a:txBody>
                  <a:tcPr>
                    <a:solidFill>
                      <a:srgbClr val="0F2C59"/>
                    </a:solidFill>
                  </a:tcPr>
                </a:tc>
                <a:tc>
                  <a:txBody>
                    <a:bodyPr lIns="182880" tIns="91440"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🛡️ Concrete Mitigation Plan</a:t>
                      </a:r>
                    </a:p>
                  </a:txBody>
                  <a:tcPr>
                    <a:solidFill>
                      <a:srgbClr val="0072CE"/>
                    </a:solidFill>
                  </a:tcPr>
                </a:tc>
              </a:tr>
              <a:tr h="713232">
                <a:tc>
                  <a:txBody>
                    <a:bodyPr lIns="137160" tIns="73152"/>
                    <a:lstStyle/>
                    <a:p>
                      <a:pPr>
                        <a:defRPr sz="850">
                          <a:solidFill>
                            <a:srgbClr val="1E293B"/>
                          </a:solidFill>
                        </a:defRPr>
                      </a:pPr>
                      <a:r>
                        <a:t>1. Low Initial MSME Onboarding:</a:t>
                      </a:r>
                      <a:br/>
                      <a:r>
                        <a:t>Small businesses hesitate to adopt new portals without immediate hires.</a:t>
                      </a:r>
                    </a:p>
                  </a:txBody>
                  <a:tcPr>
                    <a:solidFill>
                      <a:srgbClr val="FFF1F2"/>
                    </a:solidFill>
                  </a:tcPr>
                </a:tc>
                <a:tc>
                  <a:txBody>
                    <a:bodyPr lIns="137160" tIns="73152"/>
                    <a:lstStyle/>
                    <a:p>
                      <a:pPr>
                        <a:defRPr sz="850">
                          <a:solidFill>
                            <a:srgbClr val="1E293B"/>
                          </a:solidFill>
                        </a:defRPr>
                      </a:pPr>
                      <a:r>
                        <a:t>Partner with State Licensing Bodies &amp; Ayush Export Council; seed portal with public tenders; free 1-click candidate shortlisting.</a:t>
                      </a:r>
                    </a:p>
                  </a:txBody>
                  <a:tcPr>
                    <a:solidFill>
                      <a:srgbClr val="ECFDF5"/>
                    </a:solidFill>
                  </a:tcPr>
                </a:tc>
              </a:tr>
              <a:tr h="713232">
                <a:tc>
                  <a:txBody>
                    <a:bodyPr lIns="137160" tIns="73152"/>
                    <a:lstStyle/>
                    <a:p>
                      <a:pPr>
                        <a:defRPr sz="850">
                          <a:solidFill>
                            <a:srgbClr val="1E293B"/>
                          </a:solidFill>
                        </a:defRPr>
                      </a:pPr>
                      <a:r>
                        <a:t>2. Classical vs Modern Terminology Gap:</a:t>
                      </a:r>
                      <a:br/>
                      <a:r>
                        <a:t>Sanskrit/Urdu curriculum terms differ from modern GMP &amp; pharma job posts.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37160" tIns="73152"/>
                    <a:lstStyle/>
                    <a:p>
                      <a:pPr>
                        <a:defRPr sz="850">
                          <a:solidFill>
                            <a:srgbClr val="1E293B"/>
                          </a:solidFill>
                        </a:defRPr>
                      </a:pPr>
                      <a:r>
                        <a:t>Standardized AYUSH skill ontology cross-referencing WHO-ICD traditional medicine terms with industrial laboratory proficiencies.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13232">
                <a:tc>
                  <a:txBody>
                    <a:bodyPr lIns="137160" tIns="73152"/>
                    <a:lstStyle/>
                    <a:p>
                      <a:pPr>
                        <a:defRPr sz="850">
                          <a:solidFill>
                            <a:srgbClr val="1E293B"/>
                          </a:solidFill>
                        </a:defRPr>
                      </a:pPr>
                      <a:r>
                        <a:t>3. Fake / Backdated Internship Certificates:</a:t>
                      </a:r>
                      <a:br/>
                      <a:r>
                        <a:t>Students buying counterfeit certificates from unverified clinics.</a:t>
                      </a:r>
                    </a:p>
                  </a:txBody>
                  <a:tcPr>
                    <a:solidFill>
                      <a:srgbClr val="FFF1F2"/>
                    </a:solidFill>
                  </a:tcPr>
                </a:tc>
                <a:tc>
                  <a:txBody>
                    <a:bodyPr lIns="137160" tIns="73152"/>
                    <a:lstStyle/>
                    <a:p>
                      <a:pPr>
                        <a:defRPr sz="850">
                          <a:solidFill>
                            <a:srgbClr val="1E293B"/>
                          </a:solidFill>
                        </a:defRPr>
                      </a:pPr>
                      <a:r>
                        <a:t>Mentor-verified daily digital logbook with GPS/IP stamp and SHA-256 cryptographic hash anchored to an instant QR verification portal.</a:t>
                      </a:r>
                    </a:p>
                  </a:txBody>
                  <a:tcPr>
                    <a:solidFill>
                      <a:srgbClr val="ECFDF5"/>
                    </a:solidFill>
                  </a:tcPr>
                </a:tc>
              </a:tr>
              <a:tr h="713232">
                <a:tc>
                  <a:txBody>
                    <a:bodyPr lIns="137160" tIns="73152"/>
                    <a:lstStyle/>
                    <a:p>
                      <a:pPr>
                        <a:defRPr sz="850">
                          <a:solidFill>
                            <a:srgbClr val="1E293B"/>
                          </a:solidFill>
                        </a:defRPr>
                      </a:pPr>
                      <a:r>
                        <a:t>4. Student Healthcare &amp; Data Privacy:</a:t>
                      </a:r>
                      <a:br/>
                      <a:r>
                        <a:t>Compliance with India's strict digital personal data regulations.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37160" tIns="73152"/>
                    <a:lstStyle/>
                    <a:p>
                      <a:pPr>
                        <a:defRPr sz="850">
                          <a:solidFill>
                            <a:srgbClr val="1E293B"/>
                          </a:solidFill>
                        </a:defRPr>
                      </a:pPr>
                      <a:r>
                        <a:t>Role-Based Access Control (RBAC), end-to-end TLS 1.3 encryption, and complete compliance with the Digital Personal Data Protection (DPDP) Act 2023.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365760" y="182880"/>
            <a:ext cx="1234440" cy="77724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072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09728"/>
          <a:lstStyle/>
          <a:p>
            <a:pPr algn="ctr">
              <a:defRPr sz="1100" b="1">
                <a:solidFill>
                  <a:srgbClr val="0F2C59"/>
                </a:solidFill>
              </a:defRPr>
            </a:pPr>
            <a:r>
              <a:t>Team</a:t>
            </a:r>
          </a:p>
          <a:p>
            <a:pPr algn="ctr">
              <a:defRPr sz="1100" b="1">
                <a:solidFill>
                  <a:srgbClr val="0072CE"/>
                </a:solidFill>
              </a:defRPr>
            </a:pPr>
            <a:r>
              <a:t>Apex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28800" y="182880"/>
            <a:ext cx="80467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0F2C59"/>
                </a:solidFill>
              </a:defRPr>
            </a:pPr>
            <a:r>
              <a:t>IMPACT AND BENEFITS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875520" y="137160"/>
            <a:ext cx="2011680" cy="777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defRPr sz="1200" b="1">
                <a:solidFill>
                  <a:srgbClr val="1E293B"/>
                </a:solidFill>
              </a:defRPr>
            </a:pPr>
            <a:r>
              <a:t>SMART INDIA</a:t>
            </a:r>
          </a:p>
          <a:p>
            <a:pPr algn="r">
              <a:defRPr sz="1200" b="1">
                <a:solidFill>
                  <a:srgbClr val="1E293B"/>
                </a:solidFill>
              </a:defRPr>
            </a:pPr>
            <a:r>
              <a:t>HACKATHON</a:t>
            </a:r>
          </a:p>
          <a:p>
            <a:pPr algn="r">
              <a:defRPr sz="1200" b="1">
                <a:solidFill>
                  <a:srgbClr val="0072CE"/>
                </a:solidFill>
              </a:defRPr>
            </a:pPr>
            <a:r>
              <a:t>2026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0072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6510528"/>
            <a:ext cx="6400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FFFFFF"/>
                </a:solidFill>
              </a:defRPr>
            </a:pPr>
            <a:r>
              <a:t>SkillBridge AI • Ministry of Ayush • Problem Statement ID: SIH26044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47120" y="6473952"/>
            <a:ext cx="731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051560"/>
            <a:ext cx="5212080" cy="2331720"/>
          </a:xfrm>
          <a:prstGeom prst="roundRect">
            <a:avLst/>
          </a:prstGeom>
          <a:solidFill>
            <a:srgbClr val="FFF1F2"/>
          </a:solidFill>
          <a:ln w="19050"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rIns="182880" tIns="137160"/>
          <a:lstStyle/>
          <a:p>
            <a:pPr algn="ctr">
              <a:defRPr sz="1200" b="1">
                <a:solidFill>
                  <a:srgbClr val="E11D48"/>
                </a:solidFill>
              </a:defRPr>
            </a:pPr>
            <a:r>
              <a:t>❌ BEFORE (Current Fractured Status Quo)</a:t>
            </a:r>
          </a:p>
          <a:p>
            <a:pPr>
              <a:spcBef>
                <a:spcPts val="400"/>
              </a:spcBef>
              <a:defRPr sz="900">
                <a:solidFill>
                  <a:srgbClr val="1E293B"/>
                </a:solidFill>
              </a:defRPr>
            </a:pPr>
            <a:r>
              <a:t>🔴 65+ Days Recruiter Cycle: MSMEs struggle with unvetted candidates.</a:t>
            </a:r>
          </a:p>
          <a:p>
            <a:pPr>
              <a:spcBef>
                <a:spcPts val="400"/>
              </a:spcBef>
              <a:defRPr sz="900">
                <a:solidFill>
                  <a:srgbClr val="1E293B"/>
                </a:solidFill>
              </a:defRPr>
            </a:pPr>
            <a:r>
              <a:t>🔴 Counterfeit Paper Certificates: Rampant fake internship letters.</a:t>
            </a:r>
          </a:p>
          <a:p>
            <a:pPr>
              <a:spcBef>
                <a:spcPts val="400"/>
              </a:spcBef>
              <a:defRPr sz="900">
                <a:solidFill>
                  <a:srgbClr val="1E293B"/>
                </a:solidFill>
              </a:defRPr>
            </a:pPr>
            <a:r>
              <a:t>🔴 Outdated Syllabi: Colleges update practical curriculum only once a decade.</a:t>
            </a:r>
          </a:p>
          <a:p>
            <a:pPr>
              <a:spcBef>
                <a:spcPts val="400"/>
              </a:spcBef>
              <a:defRPr sz="900">
                <a:solidFill>
                  <a:srgbClr val="1E293B"/>
                </a:solidFill>
              </a:defRPr>
            </a:pPr>
            <a:r>
              <a:t>🔴 Disillusioned Graduates: 78% of students lack guided industry access.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23560" y="2011680"/>
            <a:ext cx="914400" cy="411480"/>
          </a:xfrm>
          <a:prstGeom prst="roundRect">
            <a:avLst/>
          </a:prstGeom>
          <a:solidFill>
            <a:srgbClr val="0F2C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FFFFFF"/>
                </a:solidFill>
              </a:defRPr>
            </a:pPr>
            <a:r>
              <a:t>➔ WITH AI ➔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051560"/>
            <a:ext cx="5242255" cy="2331720"/>
          </a:xfrm>
          <a:prstGeom prst="roundRect">
            <a:avLst/>
          </a:prstGeom>
          <a:solidFill>
            <a:srgbClr val="ECFDF5"/>
          </a:solidFill>
          <a:ln w="19050">
            <a:solidFill>
              <a:srgbClr val="1095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rIns="182880" tIns="137160"/>
          <a:lstStyle/>
          <a:p>
            <a:pPr algn="ctr">
              <a:defRPr sz="1200" b="1">
                <a:solidFill>
                  <a:srgbClr val="10956A"/>
                </a:solidFill>
              </a:defRPr>
            </a:pPr>
            <a:r>
              <a:t>✅ AFTER (With SkillBridge AI Ecosystem)</a:t>
            </a:r>
          </a:p>
          <a:p>
            <a:pPr>
              <a:spcBef>
                <a:spcPts val="400"/>
              </a:spcBef>
              <a:defRPr sz="900">
                <a:solidFill>
                  <a:srgbClr val="1E293B"/>
                </a:solidFill>
              </a:defRPr>
            </a:pPr>
            <a:r>
              <a:t>🟢 &lt; 14 Days Hiring: Top-matching candidates identified in &lt; 45 milliseconds.</a:t>
            </a:r>
          </a:p>
          <a:p>
            <a:pPr>
              <a:spcBef>
                <a:spcPts val="400"/>
              </a:spcBef>
              <a:defRPr sz="900">
                <a:solidFill>
                  <a:srgbClr val="1E293B"/>
                </a:solidFill>
              </a:defRPr>
            </a:pPr>
            <a:r>
              <a:t>🟢 100% Verified Logbooks: Cryptographic QR verification prevents fraud.</a:t>
            </a:r>
          </a:p>
          <a:p>
            <a:pPr>
              <a:spcBef>
                <a:spcPts val="400"/>
              </a:spcBef>
              <a:defRPr sz="900">
                <a:solidFill>
                  <a:srgbClr val="1E293B"/>
                </a:solidFill>
              </a:defRPr>
            </a:pPr>
            <a:r>
              <a:t>🟢 Dynamic Syllabi: Automated real-time curriculum gap alerts for Deans.</a:t>
            </a:r>
          </a:p>
          <a:p>
            <a:pPr>
              <a:spcBef>
                <a:spcPts val="400"/>
              </a:spcBef>
              <a:defRPr sz="900">
                <a:solidFill>
                  <a:srgbClr val="1E293B"/>
                </a:solidFill>
              </a:defRPr>
            </a:pPr>
            <a:r>
              <a:t>🟢 Empowered Youth: Transparent SRI roadmaps unlocking high-paying careers.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520440"/>
            <a:ext cx="3429000" cy="27889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72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37160"/>
          <a:lstStyle/>
          <a:p>
            <a:pPr algn="ctr">
              <a:defRPr b="1" sz="1100">
                <a:solidFill>
                  <a:srgbClr val="0072CE"/>
                </a:solidFill>
              </a:defRPr>
            </a:pPr>
            <a:r>
              <a:t>👥 Social Impact (Students &amp; Faculty)</a:t>
            </a:r>
          </a:p>
          <a:p>
            <a:pPr>
              <a:spcBef>
                <a:spcPts val="600"/>
              </a:spcBef>
              <a:defRPr sz="850">
                <a:solidFill>
                  <a:srgbClr val="1E293B"/>
                </a:solidFill>
              </a:defRPr>
            </a:pPr>
            <a:r>
              <a:t>• 50,000+ Annual AYUSH Graduates gain structured, verified clinical &amp; industrial apprenticeships.</a:t>
            </a:r>
            <a:br/>
            <a:r>
              <a:t>• Equal opportunity for students in Tier-2/Tier-3 towns via objective AI readiness ratings.</a:t>
            </a:r>
            <a:br/>
            <a:r>
              <a:t>• Bridges classical Indian medical heritage with modern evidence-based biotechnology.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89120" y="3520440"/>
            <a:ext cx="3429000" cy="27889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A58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37160"/>
          <a:lstStyle/>
          <a:p>
            <a:pPr algn="ctr">
              <a:defRPr b="1" sz="1100">
                <a:solidFill>
                  <a:srgbClr val="EA580C"/>
                </a:solidFill>
              </a:defRPr>
            </a:pPr>
            <a:r>
              <a:t>💼 Economic Value (MSMEs &amp; Industry)</a:t>
            </a:r>
          </a:p>
          <a:p>
            <a:pPr>
              <a:spcBef>
                <a:spcPts val="600"/>
              </a:spcBef>
              <a:defRPr sz="850">
                <a:solidFill>
                  <a:srgbClr val="1E293B"/>
                </a:solidFill>
              </a:defRPr>
            </a:pPr>
            <a:r>
              <a:t>• 65% Reduction in recruitment turnaround time for 9,000+ AYUSH manufacturing units.</a:t>
            </a:r>
            <a:br/>
            <a:r>
              <a:t>• Saves ₹15,000+ per hire by eliminating manual screening and interview churn.</a:t>
            </a:r>
            <a:br/>
            <a:r>
              <a:t>• Increases productivity by delivering day-1 ready interns trained in specific GMP/QC protocols.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46720" y="3520440"/>
            <a:ext cx="3429000" cy="27889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6D28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37160"/>
          <a:lstStyle/>
          <a:p>
            <a:pPr algn="ctr">
              <a:defRPr b="1" sz="1100">
                <a:solidFill>
                  <a:srgbClr val="6D28D9"/>
                </a:solidFill>
              </a:defRPr>
            </a:pPr>
            <a:r>
              <a:t>📈 National Scalability (Digital India)</a:t>
            </a:r>
          </a:p>
          <a:p>
            <a:pPr>
              <a:spcBef>
                <a:spcPts val="600"/>
              </a:spcBef>
              <a:defRPr sz="850">
                <a:solidFill>
                  <a:srgbClr val="1E293B"/>
                </a:solidFill>
              </a:defRPr>
            </a:pPr>
            <a:r>
              <a:t>• Ready for national integration into the Ministry of Ayush's AYUSH GRID.</a:t>
            </a:r>
            <a:br/>
            <a:r>
              <a:t>• Fully compliant with National Education Policy (NEP 2020) mandatory internship credits.</a:t>
            </a:r>
            <a:br/>
            <a:r>
              <a:t>• Generates nation-wide clinical talent supply-demand heatmaps for policy makers.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365760" y="182880"/>
            <a:ext cx="1234440" cy="77724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072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09728"/>
          <a:lstStyle/>
          <a:p>
            <a:pPr algn="ctr">
              <a:defRPr sz="1100" b="1">
                <a:solidFill>
                  <a:srgbClr val="0F2C59"/>
                </a:solidFill>
              </a:defRPr>
            </a:pPr>
            <a:r>
              <a:t>Team</a:t>
            </a:r>
          </a:p>
          <a:p>
            <a:pPr algn="ctr">
              <a:defRPr sz="1100" b="1">
                <a:solidFill>
                  <a:srgbClr val="0072CE"/>
                </a:solidFill>
              </a:defRPr>
            </a:pPr>
            <a:r>
              <a:t>Apex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28800" y="182880"/>
            <a:ext cx="80467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0F2C59"/>
                </a:solidFill>
              </a:defRPr>
            </a:pPr>
            <a:r>
              <a:t>RESEARCH AND REFERENCES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875520" y="137160"/>
            <a:ext cx="2011680" cy="777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defRPr sz="1200" b="1">
                <a:solidFill>
                  <a:srgbClr val="1E293B"/>
                </a:solidFill>
              </a:defRPr>
            </a:pPr>
            <a:r>
              <a:t>SMART INDIA</a:t>
            </a:r>
          </a:p>
          <a:p>
            <a:pPr algn="r">
              <a:defRPr sz="1200" b="1">
                <a:solidFill>
                  <a:srgbClr val="1E293B"/>
                </a:solidFill>
              </a:defRPr>
            </a:pPr>
            <a:r>
              <a:t>HACKATHON</a:t>
            </a:r>
          </a:p>
          <a:p>
            <a:pPr algn="r">
              <a:defRPr sz="1200" b="1">
                <a:solidFill>
                  <a:srgbClr val="0072CE"/>
                </a:solidFill>
              </a:defRPr>
            </a:pPr>
            <a:r>
              <a:t>2026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0072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6510528"/>
            <a:ext cx="6400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FFFFFF"/>
                </a:solidFill>
              </a:defRPr>
            </a:pPr>
            <a:r>
              <a:t>SkillBridge AI • Ministry of Ayush • Problem Statement ID: SIH26044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47120" y="6473952"/>
            <a:ext cx="731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051560"/>
            <a:ext cx="5486400" cy="521208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228600" tIns="137160"/>
          <a:lstStyle/>
          <a:p>
            <a:pPr algn="ctr">
              <a:defRPr sz="1250" b="1">
                <a:solidFill>
                  <a:srgbClr val="0F2C59"/>
                </a:solidFill>
              </a:defRPr>
            </a:pPr>
            <a:r>
              <a:t>🏛️ Key Government Policies &amp; Research Papers</a:t>
            </a:r>
          </a:p>
          <a:p>
            <a:pPr>
              <a:spcBef>
                <a:spcPts val="700"/>
              </a:spcBef>
            </a:pPr>
            <a:r>
              <a:rPr b="1" sz="950">
                <a:solidFill>
                  <a:srgbClr val="0072CE"/>
                </a:solidFill>
              </a:rPr>
              <a:t>📚 National AYUSH Mission (NAM) Guidelines: </a:t>
            </a:r>
            <a:r>
              <a:rPr sz="850">
                <a:solidFill>
                  <a:srgbClr val="1E293B"/>
                </a:solidFill>
              </a:rPr>
              <a:t>Policy directives on human resource development, industry linkages, and rotational clinical internships. (ayush.gov.in)</a:t>
            </a:r>
          </a:p>
          <a:p>
            <a:pPr>
              <a:spcBef>
                <a:spcPts val="700"/>
              </a:spcBef>
            </a:pPr>
            <a:r>
              <a:rPr b="1" sz="950">
                <a:solidFill>
                  <a:srgbClr val="0072CE"/>
                </a:solidFill>
              </a:rPr>
              <a:t>📚 NCISM Competency-Based Dynamic Curriculum (2022-2024): </a:t>
            </a:r>
            <a:r>
              <a:rPr sz="850">
                <a:solidFill>
                  <a:srgbClr val="1E293B"/>
                </a:solidFill>
              </a:rPr>
              <a:t>Statutory regulations establishing minimum standards and credit-bearing internship tracking for Indian Medicine. (ncismindia.org)</a:t>
            </a:r>
          </a:p>
          <a:p>
            <a:pPr>
              <a:spcBef>
                <a:spcPts val="700"/>
              </a:spcBef>
            </a:pPr>
            <a:r>
              <a:rPr b="1" sz="950">
                <a:solidFill>
                  <a:srgbClr val="0072CE"/>
                </a:solidFill>
              </a:rPr>
              <a:t>📚 NITI Aayog Report — 'Promoting AYUSH in Public Health': </a:t>
            </a:r>
            <a:r>
              <a:rPr sz="850">
                <a:solidFill>
                  <a:srgbClr val="1E293B"/>
                </a:solidFill>
              </a:rPr>
              <a:t>Documents the 54% operational skill gap in standardized quality control and clinical research methodologies.</a:t>
            </a:r>
          </a:p>
          <a:p>
            <a:pPr>
              <a:spcBef>
                <a:spcPts val="700"/>
              </a:spcBef>
            </a:pPr>
            <a:r>
              <a:rPr b="1" sz="950">
                <a:solidFill>
                  <a:srgbClr val="0072CE"/>
                </a:solidFill>
              </a:rPr>
              <a:t>📚 Reimers &amp; Gurevych (EMNLP 2019) — Sentence-BERT: </a:t>
            </a:r>
            <a:r>
              <a:rPr sz="850">
                <a:solidFill>
                  <a:srgbClr val="1E293B"/>
                </a:solidFill>
              </a:rPr>
              <a:t>'Sentence Embeddings using Siamese BERT-Networks' — the algorithmic foundation used in our dense vector skill matching engine.</a:t>
            </a:r>
          </a:p>
          <a:p>
            <a:pPr>
              <a:spcBef>
                <a:spcPts val="700"/>
              </a:spcBef>
            </a:pPr>
            <a:r>
              <a:rPr b="1" sz="950">
                <a:solidFill>
                  <a:srgbClr val="0072CE"/>
                </a:solidFill>
              </a:rPr>
              <a:t>🔗 MeitY Open API &amp; India DPDP Act 2023: </a:t>
            </a:r>
            <a:r>
              <a:rPr sz="850">
                <a:solidFill>
                  <a:srgbClr val="1E293B"/>
                </a:solidFill>
              </a:rPr>
              <a:t>Digital governance principles ensuring verifiable digital credentials, privacy by design, and secure cloud deployment.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46520" y="1051560"/>
            <a:ext cx="5010912" cy="5212080"/>
          </a:xfrm>
          <a:prstGeom prst="round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83680" y="1143000"/>
            <a:ext cx="473659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 b="1">
                <a:solidFill>
                  <a:srgbClr val="0F2C59"/>
                </a:solidFill>
              </a:defRPr>
            </a:pPr>
            <a:r>
              <a:t>📊 Primary Survey &amp; Prototype Benchmark Data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583680" y="1600200"/>
            <a:ext cx="4736592" cy="13716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6D28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rIns="182880" tIns="109728"/>
          <a:lstStyle/>
          <a:p>
            <a:pPr algn="ctr">
              <a:defRPr b="1" sz="1050">
                <a:solidFill>
                  <a:srgbClr val="6D28D9"/>
                </a:solidFill>
              </a:defRPr>
            </a:pPr>
            <a:r>
              <a:t>📝 Team Primary Survey: 450+ BAMS/BHMS Students</a:t>
            </a:r>
          </a:p>
          <a:p>
            <a:pPr>
              <a:spcBef>
                <a:spcPts val="300"/>
              </a:spcBef>
              <a:defRPr sz="850">
                <a:solidFill>
                  <a:srgbClr val="1E293B"/>
                </a:solidFill>
              </a:defRPr>
            </a:pPr>
            <a:r>
              <a:t>• 78% of students reported zero structured access to industry internships.</a:t>
            </a:r>
            <a:br/>
            <a:r>
              <a:t>• 84% stated their college curriculum did not cover modern QA/QC standards.</a:t>
            </a:r>
            <a:br/>
            <a:r>
              <a:t>• 92% favored a verified digital logbook to showcase practical competencies.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83680" y="3108960"/>
            <a:ext cx="4736592" cy="13716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095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rIns="182880" tIns="109728"/>
          <a:lstStyle/>
          <a:p>
            <a:pPr algn="ctr">
              <a:defRPr b="1">
                <a:solidFill>
                  <a:srgbClr val="10956A"/>
                </a:solidFill>
              </a:defRPr>
            </a:pPr>
            <a:r>
              <a:t>⚡ Prototype Match Accuracy Benchmark</a:t>
            </a:r>
          </a:p>
          <a:p>
            <a:pPr>
              <a:spcBef>
                <a:spcPts val="300"/>
              </a:spcBef>
              <a:defRPr sz="850">
                <a:solidFill>
                  <a:srgbClr val="1E293B"/>
                </a:solidFill>
              </a:defRPr>
            </a:pPr>
            <a:r>
              <a:t>• S-BERT Embedding Match:  91.4% Top-5 Role Precision</a:t>
            </a:r>
            <a:br/>
            <a:r>
              <a:t>• Baseline Keyword Search:  42.1% Precision (Misses synonyms)</a:t>
            </a:r>
            <a:br/>
            <a:r>
              <a:t>• Query Execution Speed:    &lt; 42ms with pgvector HNSW indexing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83680" y="4617720"/>
            <a:ext cx="4736592" cy="13716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72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rIns="182880" tIns="91440"/>
          <a:lstStyle/>
          <a:p>
            <a:pPr algn="ctr">
              <a:defRPr b="1" sz="1050">
                <a:solidFill>
                  <a:srgbClr val="0072CE"/>
                </a:solidFill>
              </a:defRPr>
            </a:pPr>
            <a:r>
              <a:t>🏛️ Standards &amp; Regulatory Alignment</a:t>
            </a:r>
          </a:p>
          <a:p>
            <a:pPr>
              <a:spcBef>
                <a:spcPts val="300"/>
              </a:spcBef>
              <a:defRPr sz="850">
                <a:solidFill>
                  <a:srgbClr val="1E293B"/>
                </a:solidFill>
              </a:defRPr>
            </a:pPr>
            <a:r>
              <a:t>✓ Ministry of Ayush (ayush.gov.in) — AYUSH GRID Compliant</a:t>
            </a:r>
            <a:br/>
            <a:r>
              <a:t>✓ NCISM &amp; NCH Regulations — Competency Internship Norms</a:t>
            </a:r>
            <a:br/>
            <a:r>
              <a:t>✓ Indian Pharmacopoeia Commission (IPC) — QC Standards</a:t>
            </a:r>
            <a:br/>
            <a:r>
              <a:t>✓ NEP 2020 &amp; Digital India — Credit-Bearing Framework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