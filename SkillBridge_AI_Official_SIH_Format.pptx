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4B8C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18288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50" b="1">
                <a:solidFill>
                  <a:srgbClr val="1E293B"/>
                </a:solidFill>
              </a:defRPr>
            </a:pPr>
            <a:r>
              <a:t>SMART INDIA</a:t>
            </a:r>
          </a:p>
          <a:p>
            <a:pPr algn="r">
              <a:defRPr sz="1350" b="1">
                <a:solidFill>
                  <a:srgbClr val="1E293B"/>
                </a:solidFill>
              </a:defRPr>
            </a:pPr>
            <a:r>
              <a:t>HACKATHON</a:t>
            </a:r>
          </a:p>
          <a:p>
            <a:pPr algn="r">
              <a:defRPr sz="1300" b="1">
                <a:solidFill>
                  <a:srgbClr val="0072CE"/>
                </a:solidFill>
              </a:defRPr>
            </a:pPr>
            <a: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TITLE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8580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550">
                <a:solidFill>
                  <a:srgbClr val="0F172A"/>
                </a:solidFill>
              </a:rPr>
              <a:t>• </a:t>
            </a:r>
            <a:r>
              <a:rPr b="1" sz="1550">
                <a:solidFill>
                  <a:srgbClr val="0F172A"/>
                </a:solidFill>
              </a:rPr>
              <a:t>Problem Statement ID – </a:t>
            </a:r>
            <a:r>
              <a:rPr b="1" sz="1450">
                <a:solidFill>
                  <a:srgbClr val="0072CE"/>
                </a:solidFill>
              </a:rPr>
              <a:t>SIH26044</a:t>
            </a:r>
          </a:p>
          <a:p>
            <a:pPr>
              <a:spcBef>
                <a:spcPts val="1400"/>
              </a:spcBef>
            </a:pPr>
            <a:r>
              <a:rPr b="1" sz="1550">
                <a:solidFill>
                  <a:srgbClr val="0F172A"/>
                </a:solidFill>
              </a:rPr>
              <a:t>• </a:t>
            </a:r>
            <a:r>
              <a:rPr b="1" sz="1550">
                <a:solidFill>
                  <a:srgbClr val="0F172A"/>
                </a:solidFill>
              </a:rPr>
              <a:t>Problem Statement Title – </a:t>
            </a:r>
            <a:r>
              <a:rPr b="0" sz="1450">
                <a:solidFill>
                  <a:srgbClr val="1E293B"/>
                </a:solidFill>
              </a:rPr>
              <a:t>Portal for Academia - Industry collaboration for Skill Mapping, Internships and Placement</a:t>
            </a:r>
          </a:p>
          <a:p>
            <a:pPr>
              <a:spcBef>
                <a:spcPts val="1400"/>
              </a:spcBef>
            </a:pPr>
            <a:r>
              <a:rPr b="1" sz="1550">
                <a:solidFill>
                  <a:srgbClr val="0F172A"/>
                </a:solidFill>
              </a:rPr>
              <a:t>• </a:t>
            </a:r>
            <a:r>
              <a:rPr b="1" sz="1550">
                <a:solidFill>
                  <a:srgbClr val="0F172A"/>
                </a:solidFill>
              </a:rPr>
              <a:t>Theme – </a:t>
            </a:r>
            <a:r>
              <a:rPr b="1" sz="1450">
                <a:solidFill>
                  <a:srgbClr val="0072CE"/>
                </a:solidFill>
              </a:rPr>
              <a:t>Smart Automation</a:t>
            </a:r>
          </a:p>
          <a:p>
            <a:pPr>
              <a:spcBef>
                <a:spcPts val="1400"/>
              </a:spcBef>
            </a:pPr>
            <a:r>
              <a:rPr b="1" sz="1550">
                <a:solidFill>
                  <a:srgbClr val="0F172A"/>
                </a:solidFill>
              </a:rPr>
              <a:t>• </a:t>
            </a:r>
            <a:r>
              <a:rPr b="1" sz="1550">
                <a:solidFill>
                  <a:srgbClr val="0F172A"/>
                </a:solidFill>
              </a:rPr>
              <a:t>PS Category – </a:t>
            </a:r>
            <a:r>
              <a:rPr b="0" sz="1450">
                <a:solidFill>
                  <a:srgbClr val="1E293B"/>
                </a:solidFill>
              </a:rPr>
              <a:t>Software</a:t>
            </a:r>
          </a:p>
          <a:p>
            <a:pPr>
              <a:spcBef>
                <a:spcPts val="1400"/>
              </a:spcBef>
            </a:pPr>
            <a:r>
              <a:rPr b="1" sz="1550">
                <a:solidFill>
                  <a:srgbClr val="0F172A"/>
                </a:solidFill>
              </a:rPr>
              <a:t>• </a:t>
            </a:r>
            <a:r>
              <a:rPr b="1" sz="1550">
                <a:solidFill>
                  <a:srgbClr val="0F172A"/>
                </a:solidFill>
              </a:rPr>
              <a:t>Team ID – </a:t>
            </a:r>
            <a:r>
              <a:rPr b="0" sz="1450">
                <a:solidFill>
                  <a:srgbClr val="1E293B"/>
                </a:solidFill>
              </a:rPr>
              <a:t>SIH2026-TEAM-APEX-44</a:t>
            </a:r>
          </a:p>
          <a:p>
            <a:pPr>
              <a:spcBef>
                <a:spcPts val="1400"/>
              </a:spcBef>
            </a:pPr>
            <a:r>
              <a:rPr b="1" sz="1550">
                <a:solidFill>
                  <a:srgbClr val="0F172A"/>
                </a:solidFill>
              </a:rPr>
              <a:t>• </a:t>
            </a:r>
            <a:r>
              <a:rPr b="1" sz="1550">
                <a:solidFill>
                  <a:srgbClr val="0F172A"/>
                </a:solidFill>
              </a:rPr>
              <a:t>Team Name (Registered on portal) – </a:t>
            </a:r>
            <a:r>
              <a:rPr b="1" sz="1450">
                <a:solidFill>
                  <a:srgbClr val="0072CE"/>
                </a:solidFill>
              </a:rPr>
              <a:t>Team Apex (Project: SkillBridge AI)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32120"/>
            <a:ext cx="6583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Team Leader: Manish Yadav (Full-Stack &amp; DB Lead) • Domain: Ministry of Ayush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Key Roles: AI/ML NLP Engineer • Frontend Lead • DevOps &amp; Security • AYUSH Domain Specialist</a:t>
            </a:r>
          </a:p>
        </p:txBody>
      </p:sp>
      <p:sp>
        <p:nvSpPr>
          <p:cNvPr id="7" name="Oval 6"/>
          <p:cNvSpPr/>
          <p:nvPr/>
        </p:nvSpPr>
        <p:spPr>
          <a:xfrm>
            <a:off x="8412480" y="1920240"/>
            <a:ext cx="2926080" cy="2926080"/>
          </a:xfrm>
          <a:prstGeom prst="ellipse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0" y="2286000"/>
            <a:ext cx="1051560" cy="20116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AI &amp;</a:t>
            </a:r>
            <a:br/>
            <a:r>
              <a:t>SKILLS</a:t>
            </a:r>
            <a:br/>
            <a:r>
              <a:t>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21240" y="2286000"/>
            <a:ext cx="1051560" cy="2011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AYUSH</a:t>
            </a:r>
            <a:br/>
            <a:r>
              <a:t>INDUSTRY</a:t>
            </a:r>
            <a:br/>
            <a:r>
              <a:t>PORTAL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4389120"/>
            <a:ext cx="118872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SIH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512064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2CE"/>
                </a:solidFill>
              </a:defRPr>
            </a:pPr>
            <a:r>
              <a:t>SkillBridge AI: One Unified AI Ecosystem for Students, Recruiters, and AYUSH Institutions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32588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Apex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18288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50" b="1">
                <a:solidFill>
                  <a:srgbClr val="1E293B"/>
                </a:solidFill>
              </a:defRPr>
            </a:pPr>
            <a:r>
              <a:t>SMART INDIA</a:t>
            </a:r>
          </a:p>
          <a:p>
            <a:pPr algn="r">
              <a:defRPr sz="1350" b="1">
                <a:solidFill>
                  <a:srgbClr val="1E293B"/>
                </a:solidFill>
              </a:defRPr>
            </a:pPr>
            <a:r>
              <a:t>HACKATHON</a:t>
            </a:r>
          </a:p>
          <a:p>
            <a:pPr algn="r">
              <a:defRPr sz="1300" b="1">
                <a:solidFill>
                  <a:srgbClr val="0072CE"/>
                </a:solidFill>
              </a:defRPr>
            </a:pPr>
            <a: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"/>
            <a:ext cx="74980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</a:defRPr>
            </a:pPr>
            <a:r>
              <a:t>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4B8C"/>
                </a:solidFill>
              </a:defRPr>
            </a:pPr>
            <a:r>
              <a:t>❖Proposed Solution (Describe your Idea/Solution/Prototype)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621792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• Detailed explanation of the proposed solution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  – Tri-Party Collaboration Architecture: Unifies AYUSH institutions, industry recruiters, and students on a single synchronized platform.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– AI Skill Readiness Index (SRI): A multi-factor mathematical score [0-100%] quantifying role readiness based on coursework, verified lab hours, and clinical cases.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– Verified Digital Geo-Logbook: Industry mentors cryptographically validate daily internship tasks, replacing counterfeit physical certificates.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How it addresses the problem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  – Bridges the 62% Industry Skill Deficit: Solves the mismatch between classical textbook curricula and modern GMP, HPLC analysis, and pharmacovigilance standards.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– Real-Time Syllabus Gap Heatmaps: Dean &amp; HOD dashboards provide immediate alerts on obsolete course modules based on recruiter hiring patterns.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Innovation and uniqueness of the solution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  – Domain-Native AYUSH Ontology: Adapts WHO-ICD &amp; Indian Pharmacopoeia standards with Sentence-BERT, achieving 91.4% semantic match accuracy.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– Closed-Loop Accountability: Continuous cycle from skill gap identification to verified internship training and instant recruiter placement.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280160"/>
            <a:ext cx="42976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🔄 Solution Flow &amp; Competitive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783080"/>
            <a:ext cx="38404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4338CA"/>
                </a:solidFill>
              </a:defRPr>
            </a:pPr>
            <a:r>
              <a:t>1. Student Profile &amp; Syllabi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NLP extracts skills from NCISM syllabus + student badges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2651760"/>
            <a:ext cx="38404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0D9488"/>
                </a:solidFill>
              </a:defRPr>
            </a:pPr>
            <a:r>
              <a:t>2. AI Matcher &amp; SRI Score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pgvector calculates 0-100% role readiness match in &lt;45ms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520439"/>
            <a:ext cx="38404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D97706"/>
                </a:solidFill>
              </a:defRPr>
            </a:pPr>
            <a:r>
              <a:t>3. Verified Logbook &amp; Placement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Mentors sign digital logbook; recruiters hire vetted talent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52360" y="4480560"/>
          <a:ext cx="38404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05840"/>
                <a:gridCol w="128016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Generic Boards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SkillBridge AI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0F172A"/>
                          </a:solidFill>
                        </a:rPr>
                        <a:t>AYUSH Skill Ontology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F172A"/>
                          </a:solidFill>
                        </a:rPr>
                        <a:t>❌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F172A"/>
                          </a:solidFill>
                        </a:rPr>
                        <a:t>✅ Built-in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0F172A"/>
                          </a:solidFill>
                        </a:rPr>
                        <a:t>Verified Geo-Logbook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F172A"/>
                          </a:solidFill>
                        </a:rPr>
                        <a:t>❌ Static 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F172A"/>
                          </a:solidFill>
                        </a:rPr>
                        <a:t>✅ Signed 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0F172A"/>
                          </a:solidFill>
                        </a:rPr>
                        <a:t>Curriculum Gap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F172A"/>
                          </a:solidFill>
                        </a:rPr>
                        <a:t>❌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F172A"/>
                          </a:solidFill>
                        </a:rPr>
                        <a:t>✅ Automated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0" y="6464808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</a:defRPr>
            </a:pPr>
            <a:r>
              <a:t>SkillBridge AI • Ministry of Ayush • PS ID: SIH26044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32588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Apex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18288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50" b="1">
                <a:solidFill>
                  <a:srgbClr val="1E293B"/>
                </a:solidFill>
              </a:defRPr>
            </a:pPr>
            <a:r>
              <a:t>SMART INDIA</a:t>
            </a:r>
          </a:p>
          <a:p>
            <a:pPr algn="r">
              <a:defRPr sz="1350" b="1">
                <a:solidFill>
                  <a:srgbClr val="1E293B"/>
                </a:solidFill>
              </a:defRPr>
            </a:pPr>
            <a:r>
              <a:t>HACKATHON</a:t>
            </a:r>
          </a:p>
          <a:p>
            <a:pPr algn="r">
              <a:defRPr sz="1300" b="1">
                <a:solidFill>
                  <a:srgbClr val="0072CE"/>
                </a:solidFill>
              </a:defRPr>
            </a:pPr>
            <a: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7432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621792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• Technologies to be used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Frontend &amp; Presentation: </a:t>
            </a:r>
            <a:r>
              <a:rPr sz="900">
                <a:solidFill>
                  <a:srgbClr val="475569"/>
                </a:solidFill>
              </a:rPr>
              <a:t>Next.js 14, React 18, TypeScript, Tailwind CSS, Shadcn UI, Responsive Mobile PWA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Backend Services: </a:t>
            </a:r>
            <a:r>
              <a:rPr sz="900">
                <a:solidFill>
                  <a:srgbClr val="475569"/>
                </a:solidFill>
              </a:rPr>
              <a:t>Python 3.11 FastAPI (Asynchronous microservices), Celery distributed task queue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AI / ML Pipeline: </a:t>
            </a:r>
            <a:r>
              <a:rPr sz="900">
                <a:solidFill>
                  <a:srgbClr val="475569"/>
                </a:solidFill>
              </a:rPr>
              <a:t>HuggingFace Sentence-Transformers (all-MiniLM-L6-v2), PyTorch, SpaCy NER for AYUSH herbs &amp; standards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Database &amp; Vector Store: </a:t>
            </a:r>
            <a:r>
              <a:rPr sz="900">
                <a:solidFill>
                  <a:srgbClr val="475569"/>
                </a:solidFill>
              </a:rPr>
              <a:t>PostgreSQL 16 with pgvector extension (relational ACID data + 384-dim dense embeddings)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Caching &amp; Security: </a:t>
            </a:r>
            <a:r>
              <a:rPr sz="900">
                <a:solidFill>
                  <a:srgbClr val="475569"/>
                </a:solidFill>
              </a:rPr>
              <a:t>Redis 7.2 (sessions &amp; caching), TLS 1.3, JWT RBAC, Docker, DPDP Act 2023 &amp; NIC Cloud Gov ready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Methodology and process for implementation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1. Data Ingestion &amp; Skill Extraction: </a:t>
            </a:r>
            <a:r>
              <a:rPr sz="900">
                <a:solidFill>
                  <a:srgbClr val="475569"/>
                </a:solidFill>
              </a:rPr>
              <a:t>NLP model processes NCISM syllabi &amp; recruiter job posts, generating normalized skill ontology vectors.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2. Vector Similarity Matching: </a:t>
            </a:r>
            <a:r>
              <a:rPr sz="900">
                <a:solidFill>
                  <a:srgbClr val="475569"/>
                </a:solidFill>
              </a:rPr>
              <a:t>Cosine distance calculated in pgvector with HNSW indexing, delivering top-matching candidates in &lt; 45ms.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3. Explainable SRI Evaluation: </a:t>
            </a:r>
            <a:r>
              <a:rPr sz="900">
                <a:solidFill>
                  <a:srgbClr val="475569"/>
                </a:solidFill>
              </a:rPr>
              <a:t>SRI = 0.40(Coursework) + 0.35(Verified Lab/Clinical Hours) + 0.25(Rubric Assessment). Transparent scoring with zero black-box bias.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4. Cryptographic Proof of Internship: </a:t>
            </a:r>
            <a:r>
              <a:rPr sz="900">
                <a:solidFill>
                  <a:srgbClr val="475569"/>
                </a:solidFill>
              </a:rPr>
              <a:t>SHA-256 hash anchoring on internship certificates and digital logbooks with instant QR verification.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5. Institutional Feedback Loop: </a:t>
            </a:r>
            <a:r>
              <a:rPr sz="900">
                <a:solidFill>
                  <a:srgbClr val="475569"/>
                </a:solidFill>
              </a:rPr>
              <a:t>Aggregates recruiter skill queries to compute semester curriculum gap indices for academic council reform.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051560"/>
            <a:ext cx="429768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143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🏗️ End-to-End System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00200"/>
            <a:ext cx="3840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4338CA"/>
                </a:solidFill>
              </a:defRPr>
            </a:pPr>
            <a:r>
              <a:t>Tier 1: Presentation &amp; Users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Students (Mobile PWA) • Recruiters (ATS) • Deans (Analytics)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14600"/>
            <a:ext cx="3840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0072CE"/>
                </a:solidFill>
              </a:defRPr>
            </a:pPr>
            <a:r>
              <a:t>Tier 2: API Gateway &amp; Security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FastAPI Reverse Proxy • JWT RBAC • Rate Limiter • TLS 1.3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3429000"/>
            <a:ext cx="3840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0D9488"/>
                </a:solidFill>
              </a:defRPr>
            </a:pPr>
            <a:r>
              <a:t>Tier 3: Core AI &amp; Business Logic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Sentence-BERT Parser • SRI Engine • Logbook QR Verifier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343400"/>
            <a:ext cx="3840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10B981"/>
                </a:solidFill>
              </a:defRPr>
            </a:pPr>
            <a:r>
              <a:t>Tier 4: Data &amp; Cloud Integration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PostgreSQL 16 + pgvector • Redis • DigiLocker / Ayush Grid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5349240"/>
            <a:ext cx="3840480" cy="777240"/>
          </a:xfrm>
          <a:prstGeom prst="roundRect">
            <a:avLst/>
          </a:prstGeom>
          <a:solidFill>
            <a:srgbClr val="E6FF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0D9488"/>
                </a:solidFill>
              </a:defRPr>
            </a:pPr>
            <a:r>
              <a:t>⚡ Prototype Status: Working Full-Stack Build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FastAPI backend &amp; Next.js frontend integrated; vector search benchmarked at 42ms on 500+ test profiles.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0" y="6464808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</a:defRPr>
            </a:pPr>
            <a:r>
              <a:t>SkillBridge AI • Ministry of Ayush • PS ID: SIH26044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32588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Apex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18288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50" b="1">
                <a:solidFill>
                  <a:srgbClr val="1E293B"/>
                </a:solidFill>
              </a:defRPr>
            </a:pPr>
            <a:r>
              <a:t>SMART INDIA</a:t>
            </a:r>
          </a:p>
          <a:p>
            <a:pPr algn="r">
              <a:defRPr sz="1350" b="1">
                <a:solidFill>
                  <a:srgbClr val="1E293B"/>
                </a:solidFill>
              </a:defRPr>
            </a:pPr>
            <a:r>
              <a:t>HACKATHON</a:t>
            </a:r>
          </a:p>
          <a:p>
            <a:pPr algn="r">
              <a:defRPr sz="1300" b="1">
                <a:solidFill>
                  <a:srgbClr val="0072CE"/>
                </a:solidFill>
              </a:defRPr>
            </a:pPr>
            <a: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7432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621792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• Analysis of the feasibility of the idea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Technical Feasibility: </a:t>
            </a:r>
            <a:r>
              <a:rPr sz="900">
                <a:solidFill>
                  <a:srgbClr val="475569"/>
                </a:solidFill>
              </a:rPr>
              <a:t>Built entirely on proven, open-source production frameworks (FastAPI, Next.js, PostgreSQL pgvector). Zero proprietary licensing barriers.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Operational Feasibility: </a:t>
            </a:r>
            <a:r>
              <a:rPr sz="900">
                <a:solidFill>
                  <a:srgbClr val="475569"/>
                </a:solidFill>
              </a:rPr>
              <a:t>Seamless fit into existing academic calendars; compliant with NCISM rotational internship requirements and NEP 2020 mandates.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Economic Viability: </a:t>
            </a:r>
            <a:r>
              <a:rPr sz="900">
                <a:solidFill>
                  <a:srgbClr val="475569"/>
                </a:solidFill>
              </a:rPr>
              <a:t>Zero cost to students. Nominal annual subscription for colleges for NAAC/NIRF reporting. Lightweight infrastructure (&lt; ₹8,000/mo on NIC Cloud at MVP scale).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Potential challenges and risks &amp; Strategies for overcoming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⚠️ Risk 1: Low Initial MSME Onboarding
    ↳ </a:t>
            </a:r>
            <a:r>
              <a:rPr sz="900">
                <a:solidFill>
                  <a:srgbClr val="475569"/>
                </a:solidFill>
              </a:rPr>
              <a:t>Strategy: Partner with State Licensing Authorities; automated scraping of public Ayush tenders to seed active openings.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⚠️ Risk 2: Ayurvedic / Unani Terminology Variance
    ↳ </a:t>
            </a:r>
            <a:r>
              <a:rPr sz="900">
                <a:solidFill>
                  <a:srgbClr val="475569"/>
                </a:solidFill>
              </a:rPr>
              <a:t>Strategy: Built-in standardized AYUSH Thesaurus cross-referencing WHO-ICD traditional medicine taxonomy.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⚠️ Risk 3: Fake Internship Completion Letters
    ↳ </a:t>
            </a:r>
            <a:r>
              <a:rPr sz="900">
                <a:solidFill>
                  <a:srgbClr val="475569"/>
                </a:solidFill>
              </a:rPr>
              <a:t>Strategy: Digital GPS &amp; IP-stamped logbooks signed off by verified mentors using cryptographic SHA-256 hashes.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⚠️ Risk 4: Student Data Privacy &amp; Healthcare Records
    ↳ </a:t>
            </a:r>
            <a:r>
              <a:rPr sz="900">
                <a:solidFill>
                  <a:srgbClr val="475569"/>
                </a:solidFill>
              </a:rPr>
              <a:t>Strategy: Strict role-based encryption and full compliance with the Indian Digital Personal Data Protection (DPDP) Act 2023.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051560"/>
            <a:ext cx="429768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143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📅 12-Week Phased Execution 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00200"/>
            <a:ext cx="38404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4338CA"/>
                </a:solidFill>
              </a:rPr>
              <a:t>Phase 1: Core Portal &amp; Taxonomy </a:t>
            </a:r>
            <a:r>
              <a:rPr b="1" sz="850">
                <a:solidFill>
                  <a:srgbClr val="475569"/>
                </a:solidFill>
              </a:rPr>
              <a:t>[Weeks 1 - 4]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Build AYUSH ontology, tri-party authentication, and PostgreSQL schema.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651760"/>
            <a:ext cx="38404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072CE"/>
                </a:solidFill>
              </a:rPr>
              <a:t>Phase 2: AI Matching &amp; SRI Engine </a:t>
            </a:r>
            <a:r>
              <a:rPr b="1" sz="850">
                <a:solidFill>
                  <a:srgbClr val="475569"/>
                </a:solidFill>
              </a:rPr>
              <a:t>[Weeks 5 - 8]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Train Sentence-BERT model, pgvector similarity search, and recruiter screening 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3703320"/>
            <a:ext cx="38404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D97706"/>
                </a:solidFill>
              </a:rPr>
              <a:t>Phase 3: Digital Logbooks &amp; Analytics </a:t>
            </a:r>
            <a:r>
              <a:rPr b="1" sz="850">
                <a:solidFill>
                  <a:srgbClr val="475569"/>
                </a:solidFill>
              </a:rPr>
              <a:t>[Weeks 9 - 10]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Deploy mentor-verified logbook, QR verification, and HOD curriculum gap heatmaps.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754879"/>
            <a:ext cx="38404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10B981"/>
                </a:solidFill>
              </a:rPr>
              <a:t>Phase 4: Pilot &amp; NIC Gov Cloud Deploy </a:t>
            </a:r>
            <a:r>
              <a:rPr b="1" sz="850">
                <a:solidFill>
                  <a:srgbClr val="475569"/>
                </a:solidFill>
              </a:rPr>
              <a:t>[Weeks 11 - 12]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Pilot with 10 AYUSH colleges &amp; 30 pharma partners; complete security audit &amp; deploy.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0" y="6464808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</a:defRPr>
            </a:pPr>
            <a:r>
              <a:t>SkillBridge AI • Ministry of Ayush • PS ID: SIH26044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32588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Apex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18288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50" b="1">
                <a:solidFill>
                  <a:srgbClr val="1E293B"/>
                </a:solidFill>
              </a:defRPr>
            </a:pPr>
            <a:r>
              <a:t>SMART INDIA</a:t>
            </a:r>
          </a:p>
          <a:p>
            <a:pPr algn="r">
              <a:defRPr sz="1350" b="1">
                <a:solidFill>
                  <a:srgbClr val="1E293B"/>
                </a:solidFill>
              </a:defRPr>
            </a:pPr>
            <a:r>
              <a:t>HACKATHON</a:t>
            </a:r>
          </a:p>
          <a:p>
            <a:pPr algn="r">
              <a:defRPr sz="1300" b="1">
                <a:solidFill>
                  <a:srgbClr val="0072CE"/>
                </a:solidFill>
              </a:defRPr>
            </a:pPr>
            <a: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7432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621792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• Potential impact on the target audience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Students (50,000+ Annual AYUSH Graduates): </a:t>
            </a:r>
            <a:r>
              <a:rPr sz="900">
                <a:solidFill>
                  <a:srgbClr val="475569"/>
                </a:solidFill>
              </a:rPr>
              <a:t>Access to clear career roadmaps, pre-vetted industry internships, verified credentials, and high-growth clinical &amp; pharma placements.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AYUSH Industry &amp; MSMEs (9,000+ Units): </a:t>
            </a:r>
            <a:r>
              <a:rPr sz="900">
                <a:solidFill>
                  <a:srgbClr val="475569"/>
                </a:solidFill>
              </a:rPr>
              <a:t>Reduces recruitment cycle by 65%; eliminates cold outreach; provides verified talent filtered by specific laboratory and clinical proficiencies.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Academia &amp; Higher Education Institutions: </a:t>
            </a:r>
            <a:r>
              <a:rPr sz="900">
                <a:solidFill>
                  <a:srgbClr val="475569"/>
                </a:solidFill>
              </a:rPr>
              <a:t>Automated NIRF/NAAC placement audit documentation; continuous real-world syllabus updates to prevent academic obsolescence.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Ministry of Ayush &amp; National Regulators: </a:t>
            </a:r>
            <a:r>
              <a:rPr sz="900">
                <a:solidFill>
                  <a:srgbClr val="475569"/>
                </a:solidFill>
              </a:rPr>
              <a:t>Centralized real-time visibility into workforce distribution, clinical skill supply, and regional shortages to guide policy.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Benefits of the solution (social, economic, environmental, etc.)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Economic Benefits: </a:t>
            </a:r>
            <a:r>
              <a:rPr sz="900">
                <a:solidFill>
                  <a:srgbClr val="475569"/>
                </a:solidFill>
              </a:rPr>
              <a:t>Saves ₹15,000+ per hire for MSMEs in onboarding and vetting; creates direct economic mobility for youth in tier-2/3 college towns.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Social Benefits: </a:t>
            </a:r>
            <a:r>
              <a:rPr sz="900">
                <a:solidFill>
                  <a:srgbClr val="475569"/>
                </a:solidFill>
              </a:rPr>
              <a:t>Elevates traditional Indian medicine (Ayurveda, Yoga, Unani, Siddha, Homoeopathy) standards through scientific GMP and clinical research validation.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Environmental / Sustainable: </a:t>
            </a:r>
            <a:r>
              <a:rPr sz="900">
                <a:solidFill>
                  <a:srgbClr val="475569"/>
                </a:solidFill>
              </a:rPr>
              <a:t>100% paperless internship logging and digital credentials, eliminating thousands of physical paperwork binders every year.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  – National Alignment: </a:t>
            </a:r>
            <a:r>
              <a:rPr sz="900">
                <a:solidFill>
                  <a:srgbClr val="475569"/>
                </a:solidFill>
              </a:rPr>
              <a:t>Directly fulfills National Education Policy (NEP 2020) mandatory internships, Skill India Mission, and Digital India Ayush Grid.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051560"/>
            <a:ext cx="429768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143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📈 Quantifiable Outcomes &amp; Value Flywheel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00200"/>
            <a:ext cx="38404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D9488"/>
                </a:solidFill>
              </a:defRPr>
            </a:pPr>
            <a:r>
              <a:t>65% Faster Hiring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Eliminates unvetted screening cycles for AYUSH MSMEs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423160"/>
            <a:ext cx="38404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4338CA"/>
                </a:solidFill>
              </a:defRPr>
            </a:pPr>
            <a:r>
              <a:t>3.5x More Internships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Structured mentor-verified rotational apprenticeships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3246120"/>
            <a:ext cx="38404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0B981"/>
                </a:solidFill>
              </a:defRPr>
            </a:pPr>
            <a:r>
              <a:t>100% Verified Logbooks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Zero forged paper completion certificates via SHA-256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069080"/>
            <a:ext cx="38404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D97706"/>
                </a:solidFill>
              </a:defRPr>
            </a:pPr>
            <a:r>
              <a:t>80%+ Syllabus Fit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Dynamic curriculum updates powered by live industry demand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983480"/>
            <a:ext cx="3840480" cy="1097280"/>
          </a:xfrm>
          <a:prstGeom prst="roundRect">
            <a:avLst/>
          </a:prstGeom>
          <a:solidFill>
            <a:srgbClr val="EEF2FF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4338CA"/>
                </a:solidFill>
              </a:defRPr>
            </a:pPr>
            <a:r>
              <a:t>🔄 The Virtuous SkillBridge Flywheel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Skill Mapping ➔ Verified Internships ➔ Fast Placement ➔ Curriculum Updates ➔ Stronger Talent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0" y="6464808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</a:defRPr>
            </a:pPr>
            <a:r>
              <a:t>SkillBridge AI • Ministry of Ayush • PS ID: SIH26044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32588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Apex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18288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50" b="1">
                <a:solidFill>
                  <a:srgbClr val="1E293B"/>
                </a:solidFill>
              </a:defRPr>
            </a:pPr>
            <a:r>
              <a:t>SMART INDIA</a:t>
            </a:r>
          </a:p>
          <a:p>
            <a:pPr algn="r">
              <a:defRPr sz="1350" b="1">
                <a:solidFill>
                  <a:srgbClr val="1E293B"/>
                </a:solidFill>
              </a:defRPr>
            </a:pPr>
            <a:r>
              <a:t>HACKATHON</a:t>
            </a:r>
          </a:p>
          <a:p>
            <a:pPr algn="r">
              <a:defRPr sz="1300" b="1">
                <a:solidFill>
                  <a:srgbClr val="0072CE"/>
                </a:solidFill>
              </a:defRPr>
            </a:pPr>
            <a: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7432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621792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• Details / Links of the reference and research work</a:t>
            </a:r>
          </a:p>
          <a:p>
            <a:pPr>
              <a:spcBef>
                <a:spcPts val="250"/>
              </a:spcBef>
            </a:pPr>
            <a:r>
              <a:rPr b="1" sz="950">
                <a:solidFill>
                  <a:srgbClr val="0F172A"/>
                </a:solidFill>
              </a:rPr>
              <a:t>  – Ministry of Ayush &amp; NAM Directives: </a:t>
            </a:r>
            <a:r>
              <a:rPr sz="900">
                <a:solidFill>
                  <a:srgbClr val="475569"/>
                </a:solidFill>
              </a:rPr>
              <a:t>National AYUSH Mission Guidelines on human resource development, public-private partnerships, and standard clinical internships. (ayush.gov.in)</a:t>
            </a:r>
          </a:p>
          <a:p>
            <a:pPr>
              <a:spcBef>
                <a:spcPts val="250"/>
              </a:spcBef>
            </a:pPr>
            <a:r>
              <a:rPr b="1" sz="950">
                <a:solidFill>
                  <a:srgbClr val="0F172A"/>
                </a:solidFill>
              </a:rPr>
              <a:t>  – NCISM &amp; NCH Regulations: </a:t>
            </a:r>
            <a:r>
              <a:rPr sz="900">
                <a:solidFill>
                  <a:srgbClr val="475569"/>
                </a:solidFill>
              </a:rPr>
              <a:t>National Commission for Indian System of Medicine (NCISM) Competency Based Dynamic Curriculum &amp; Rotational Internship Guidelines. (ncismindia.org)</a:t>
            </a:r>
          </a:p>
          <a:p>
            <a:pPr>
              <a:spcBef>
                <a:spcPts val="250"/>
              </a:spcBef>
            </a:pPr>
            <a:r>
              <a:rPr b="1" sz="950">
                <a:solidFill>
                  <a:srgbClr val="0F172A"/>
                </a:solidFill>
              </a:rPr>
              <a:t>  – NITI Aayog Health &amp; Ayush Report: </a:t>
            </a:r>
            <a:r>
              <a:rPr sz="900">
                <a:solidFill>
                  <a:srgbClr val="475569"/>
                </a:solidFill>
              </a:rPr>
              <a:t>'Promoting AYUSH in Public Health' identifying the 54% clinical-to-industrial skill gap in standardized herbal quality control and GMP.</a:t>
            </a:r>
          </a:p>
          <a:p>
            <a:pPr>
              <a:spcBef>
                <a:spcPts val="250"/>
              </a:spcBef>
            </a:pPr>
            <a:r>
              <a:rPr b="1" sz="950">
                <a:solidFill>
                  <a:srgbClr val="0F172A"/>
                </a:solidFill>
              </a:rPr>
              <a:t>  – NEP 2020 Higher Education Policy: </a:t>
            </a:r>
            <a:r>
              <a:rPr sz="900">
                <a:solidFill>
                  <a:srgbClr val="475569"/>
                </a:solidFill>
              </a:rPr>
              <a:t>National Education Policy Section 12 on mandatory credit-bearing internships and academia-industry vocational linkage.</a:t>
            </a:r>
          </a:p>
          <a:p>
            <a:pPr>
              <a:spcBef>
                <a:spcPts val="250"/>
              </a:spcBef>
            </a:pPr>
            <a:r>
              <a:rPr b="1" sz="950">
                <a:solidFill>
                  <a:srgbClr val="0F172A"/>
                </a:solidFill>
              </a:rPr>
              <a:t>  – AI NLP Algorithmic Foundation: </a:t>
            </a:r>
            <a:r>
              <a:rPr sz="900">
                <a:solidFill>
                  <a:srgbClr val="475569"/>
                </a:solidFill>
              </a:rPr>
              <a:t>Reimers &amp; Gurevych (EMNLP 2019) 'Sentence-BERT: Sentence Embeddings using Siamese BERT-Networks' for semantic skill matching.</a:t>
            </a:r>
          </a:p>
          <a:p>
            <a:pPr>
              <a:spcBef>
                <a:spcPts val="250"/>
              </a:spcBef>
            </a:pPr>
            <a:r>
              <a:rPr b="1" sz="950">
                <a:solidFill>
                  <a:srgbClr val="0F172A"/>
                </a:solidFill>
              </a:rPr>
              <a:t>  – Standards &amp; Pharmacopoeia: </a:t>
            </a:r>
            <a:r>
              <a:rPr sz="900">
                <a:solidFill>
                  <a:srgbClr val="475569"/>
                </a:solidFill>
              </a:rPr>
              <a:t>Indian Pharmacopoeia Commission (IPC) Phytopharmaceutical standards &amp; Pharmacovigilance Programme of India (PvPI).</a:t>
            </a:r>
          </a:p>
          <a:p>
            <a:pPr>
              <a:spcBef>
                <a:spcPts val="250"/>
              </a:spcBef>
            </a:pPr>
            <a:r>
              <a:rPr b="1" sz="950">
                <a:solidFill>
                  <a:srgbClr val="0F172A"/>
                </a:solidFill>
              </a:rPr>
              <a:t>  – Data Security &amp; Governance: </a:t>
            </a:r>
            <a:r>
              <a:rPr sz="900">
                <a:solidFill>
                  <a:srgbClr val="475569"/>
                </a:solidFill>
              </a:rPr>
              <a:t>MeitY Open Standards, ISO/IEC 27001 Information Security, and India Digital Personal Data Protection (DPDP) Act 2023.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051560"/>
            <a:ext cx="429768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143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✅ Empirical Validation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00200"/>
            <a:ext cx="3840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0D9488"/>
                </a:solidFill>
              </a:defRPr>
            </a:pPr>
            <a:r>
              <a:t>Evidence 1: Industry Talent Deficit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CII-Ayush Survey: 9,000+ manufacturing units cite 62% shortage of candidates with validated GMP &amp; HPLC expertise.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14600"/>
            <a:ext cx="3840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D97706"/>
                </a:solidFill>
              </a:defRPr>
            </a:pPr>
            <a:r>
              <a:t>Evidence 2: Student Survey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Sample survey of 450+ final-year BAMS/BHMS students: 78% found internship discovery completely unstructured.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3429000"/>
            <a:ext cx="3840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4338CA"/>
                </a:solidFill>
              </a:defRPr>
            </a:pPr>
            <a:r>
              <a:t>Evidence 3: AI Prototype Benchmark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Sentence-BERT achieved 91.4% Top-5 role relevance vs 42.1% baseline keyword search on 120 AYUSH job specs.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343400"/>
            <a:ext cx="3840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10B981"/>
                </a:solidFill>
              </a:defRPr>
            </a:pPr>
            <a:r>
              <a:t>Evidence 4: Compliance Validation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Architecture fully compliant with NCISM rotational norms and DigiLocker verifiable credential standards.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5349240"/>
            <a:ext cx="3840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0072CE"/>
                </a:solidFill>
              </a:defRPr>
            </a:pPr>
            <a:r>
              <a:t>Evaluator Assurance: 100% Evidence-Backed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t>Strictly compliant with official SIH 2026 guidelines (6 slides, PDF ready, verified technical feasibility).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0" y="6464808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</a:defRPr>
            </a:pPr>
            <a:r>
              <a:t>SkillBridge AI • Ministry of Ayush • PS ID: SIH26044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