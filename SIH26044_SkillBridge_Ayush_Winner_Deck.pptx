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01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1: Problem Statement &amp; Team Information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Official SIH Submission | Problem ID: SIH26044 | Ministry of Ayush | Smart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5989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🎯 Problem Statement &amp; National Context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D9488"/>
                </a:solidFill>
              </a:rPr>
              <a:t>• Official PS Title: </a:t>
            </a:r>
            <a:r>
              <a:rPr b="0" sz="950">
                <a:solidFill>
                  <a:srgbClr val="475569"/>
                </a:solidFill>
              </a:rPr>
              <a:t>Portal for Academia - Industry collaboration for Skill Mapping, Internships and Placement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D9488"/>
                </a:solidFill>
              </a:rPr>
              <a:t>• Ministry &amp; Track: </a:t>
            </a:r>
            <a:r>
              <a:rPr b="0" sz="950">
                <a:solidFill>
                  <a:srgbClr val="475569"/>
                </a:solidFill>
              </a:rPr>
              <a:t>Ministry of Ayush | Smart Automation (Category: Software | PS Code: SIH26044)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D9488"/>
                </a:solidFill>
              </a:rPr>
              <a:t>• The Core Challenge: </a:t>
            </a:r>
            <a:r>
              <a:rPr b="0" sz="950">
                <a:solidFill>
                  <a:srgbClr val="475569"/>
                </a:solidFill>
              </a:rPr>
              <a:t>800+ AYUSH institutes &amp; 50,000+ annual graduates face severe industry mismatch. Classical curricula lack real-time mapping to modern GMP, clinical research, phytochemistry, and pharmacovigilance standards.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D9488"/>
                </a:solidFill>
              </a:rPr>
              <a:t>• Proposed Innovation: </a:t>
            </a:r>
            <a:r>
              <a:rPr b="0" sz="950">
                <a:solidFill>
                  <a:srgbClr val="475569"/>
                </a:solidFill>
              </a:rPr>
              <a:t>SkillBridge-AYUSH — An AI-driven tri-party ecosystem unifying dynamic skill mapping, verified internship logbooks, and automated placement matching with NCISM/NEP 2020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64008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6035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👥 Team Information &amp; Expertise Matrix | Team Apex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Team Leader: Manish Yadav — </a:t>
            </a:r>
            <a:r>
              <a:rPr sz="900">
                <a:solidFill>
                  <a:srgbClr val="475569"/>
                </a:solidFill>
              </a:rPr>
              <a:t>Full-Stack System Architect &amp; FastAPI / DB Lead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Member 2: AI/ML Engineer — </a:t>
            </a:r>
            <a:r>
              <a:rPr sz="900">
                <a:solidFill>
                  <a:srgbClr val="475569"/>
                </a:solidFill>
              </a:rPr>
              <a:t>NLP Skill Taxonomy, Sentence-BERT &amp; Embeddings Engine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Member 3: Frontend &amp; UX Lead — </a:t>
            </a:r>
            <a:r>
              <a:rPr sz="900">
                <a:solidFill>
                  <a:srgbClr val="475569"/>
                </a:solidFill>
              </a:rPr>
              <a:t>Next.js 14, Responsive Tri-Party Dashboards, Accessibility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Member 4: Cloud &amp; DevOps — </a:t>
            </a:r>
            <a:r>
              <a:rPr sz="900">
                <a:solidFill>
                  <a:srgbClr val="475569"/>
                </a:solidFill>
              </a:rPr>
              <a:t>Docker, PostgreSQL, Redis, CI/CD, Gov-Cloud/NIC Security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Member 5: AYUSH Domain Lead — </a:t>
            </a:r>
            <a:r>
              <a:rPr sz="900">
                <a:solidFill>
                  <a:srgbClr val="475569"/>
                </a:solidFill>
              </a:rPr>
              <a:t>NCISM/NCH Curriculum, Ayush Industry Standards &amp; GMP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▸ Member 6: QA &amp; Testing — </a:t>
            </a:r>
            <a:r>
              <a:rPr sz="900">
                <a:solidFill>
                  <a:srgbClr val="475569"/>
                </a:solidFill>
              </a:rPr>
              <a:t>Automated E2E Testing, Security Audits, DPDP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🔄 Tri-Party Ecosystem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57400"/>
            <a:ext cx="350489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4338CA"/>
                </a:solidFill>
              </a:defRPr>
            </a:pPr>
            <a:r>
              <a:t>🏛️ ACADEMIA &amp; AYUSH INSTITUTES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Uploads Syllabi • Tracks Student Progress • NCISM Audits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235440" y="3017520"/>
            <a:ext cx="365760" cy="32004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3383280"/>
            <a:ext cx="3687775" cy="1188720"/>
          </a:xfrm>
          <a:prstGeom prst="roundRect">
            <a:avLst/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⚡ SKILLBRIDGE-AYUSH AI CORE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Domain NLP Skill Taxonomy &amp; Curriculum Parser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AI Skill Readiness Index (SRI) &amp; Role Matching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Digital Logbook &amp; Tamper-Proof Verification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235440" y="4617720"/>
            <a:ext cx="365760" cy="32004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4983480"/>
            <a:ext cx="350489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D97706"/>
                </a:solidFill>
              </a:defRPr>
            </a:pPr>
            <a:r>
              <a:t>🏭 AYUSH INDUSTRY, PHARMA &amp; HOSPITALS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Posts Verified Internships • Fast-track Hiring via SRI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Direct Syllabus Feedback Loop to Universities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02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2: Problem Understanding &amp; Proposed Solution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Deep Root-Cause Analysis, Tri-Party Pain Points &amp; Competitive Advantage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377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11D48"/>
                </a:solidFill>
              </a:defRPr>
            </a:pPr>
            <a:r>
              <a:t>🔍 Root-Cause Analysis: The AYUSH Employability Chasm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✗ The Syllabus-Industry Lag: </a:t>
            </a:r>
            <a:r>
              <a:rPr sz="900">
                <a:solidFill>
                  <a:srgbClr val="475569"/>
                </a:solidFill>
              </a:rPr>
              <a:t>Colleges teach classical literature; AYUSH manufacturing demands modern GMP, HPLC analysis, pharmacovigilance, and AYUSH-IT documentation.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✗ Unstructured &amp; Fake Internships: </a:t>
            </a:r>
            <a:r>
              <a:rPr sz="900">
                <a:solidFill>
                  <a:srgbClr val="475569"/>
                </a:solidFill>
              </a:rPr>
              <a:t>Internships lack standardized digital tracking. Students struggle to find hands-on industry roles, while fake completion certificates run rampant.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✗ No Unified Tri-Party Standard: </a:t>
            </a:r>
            <a:r>
              <a:rPr sz="900">
                <a:solidFill>
                  <a:srgbClr val="475569"/>
                </a:solidFill>
              </a:rPr>
              <a:t>Students use generic job boards; recruiters struggle with unvetted resumes; placement cells track outcomes in siloed Excel sheets.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✗ Data Vacuum for Ministry: </a:t>
            </a:r>
            <a:r>
              <a:rPr sz="900">
                <a:solidFill>
                  <a:srgbClr val="475569"/>
                </a:solidFill>
              </a:rPr>
              <a:t>NCISM and Ministry of Ayush lack empirical, real-time analytics on regional skill supply vs. industry demand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💡 Proposed Solution: The 4-Pillar SkillBridge Architecture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✓ 1. Dynamic AYUSH Skill Ontology: </a:t>
            </a:r>
            <a:r>
              <a:rPr sz="900">
                <a:solidFill>
                  <a:srgbClr val="475569"/>
                </a:solidFill>
              </a:rPr>
              <a:t>Automated NLP engine categorizes BAMS/BHMS/BUMS skills into Clinical, Pharmacological, QC/QA, and Research domains.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✓ 2. Skill Readiness Index (SRI): </a:t>
            </a:r>
            <a:r>
              <a:rPr sz="900">
                <a:solidFill>
                  <a:srgbClr val="475569"/>
                </a:solidFill>
              </a:rPr>
              <a:t>AI evaluates student coursework, clinical cases, and lab badges into a composite 0-100% readiness score per role.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✓ 3. Digital Geo-Logbook: </a:t>
            </a:r>
            <a:r>
              <a:rPr sz="900">
                <a:solidFill>
                  <a:srgbClr val="475569"/>
                </a:solidFill>
              </a:rPr>
              <a:t>Internship attendance and task milestones verified by industry mentors via tamper-evident digital sign-off.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✓ 4. Institutional Gap Heatmaps: </a:t>
            </a:r>
            <a:r>
              <a:rPr sz="900">
                <a:solidFill>
                  <a:srgbClr val="475569"/>
                </a:solidFill>
              </a:rPr>
              <a:t>Gives Dean/HOD actionable intelligence: 'Your 2026 batch is deficient in Phytochemistry HPLC by 42%' to adapt curricula.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📊 Comparative Evaluation vs Existing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43800" y="2057400"/>
          <a:ext cx="377921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27455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LinkedIn / NCS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SkillBridge AI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AYUSH Skill Ontology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Generic /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9488"/>
                          </a:solidFill>
                        </a:rPr>
                        <a:t>✅ Built-in Domain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Curriculum Gap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Not Available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9488"/>
                          </a:solidFill>
                        </a:rPr>
                        <a:t>✅ Automated for HODs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Verified Internship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Self-reported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9488"/>
                          </a:solidFill>
                        </a:rPr>
                        <a:t>✅ Geo &amp; Mentor 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Skill Readiness Index (SRI)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Keyword match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9488"/>
                          </a:solidFill>
                        </a:rPr>
                        <a:t>✅ AI Multi-factor 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Tri-Party Stakeholder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Disconnected silos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D9488"/>
                          </a:solidFill>
                        </a:rPr>
                        <a:t>✅ Unified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03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3: Technical Approach &amp;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High-Performance System Architecture, NLP Skill Pipeline &amp; Secure Tech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⚙️ Core Technical Engines &amp; Data Flow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▸ 1. NLP Curriculum &amp; Job Parser: </a:t>
            </a:r>
            <a:r>
              <a:rPr sz="900">
                <a:solidFill>
                  <a:srgbClr val="475569"/>
                </a:solidFill>
              </a:rPr>
              <a:t>HuggingFace Sentence-Transformers (all-MiniLM-L6-v2) fine-tuned on AYUSH medical literature &amp; job posts to extract normalized skill vectors.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▸ 2. Vector Similarity Engine: </a:t>
            </a:r>
            <a:r>
              <a:rPr sz="900">
                <a:solidFill>
                  <a:srgbClr val="475569"/>
                </a:solidFill>
              </a:rPr>
              <a:t>PostgreSQL pgvector / ChromaDB compute cosine similarity between student skill profiles and real-time internship requirements in &lt; 45ms.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▸ 3. AI Skill Readiness Index (SRI): </a:t>
            </a:r>
            <a:r>
              <a:rPr sz="900">
                <a:solidFill>
                  <a:srgbClr val="475569"/>
                </a:solidFill>
              </a:rPr>
              <a:t>SRI = 0.40(Theory Coursework) + 0.35(Lab/Clinical Verified Logbook) + 0.25(Assessment/Project Rubric). Provides deterministic, explainable ranking.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▸ 4. Cryptographic Digital Sign-off: </a:t>
            </a:r>
            <a:r>
              <a:rPr sz="900">
                <a:solidFill>
                  <a:srgbClr val="475569"/>
                </a:solidFill>
              </a:rPr>
              <a:t>SHA-256 hash anchoring on internship certificates and logbook hours, preventing credential fraud and enabling instant QR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🛠️ Production Technology Stack (Modern &amp; Enterprise-Ready)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Client Layer: </a:t>
            </a:r>
            <a:r>
              <a:rPr sz="900">
                <a:solidFill>
                  <a:srgbClr val="475569"/>
                </a:solidFill>
              </a:rPr>
              <a:t>Next.js 14 (React, TypeScript, Tailwind CSS, Shadcn UI) with role-tailored dashboards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API &amp; Backend: </a:t>
            </a:r>
            <a:r>
              <a:rPr sz="900">
                <a:solidFill>
                  <a:srgbClr val="475569"/>
                </a:solidFill>
              </a:rPr>
              <a:t>FastAPI (Python 3.11 asynchronous microservices) + Node.js gateway with Celery background worker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AI / ML Pipeline: </a:t>
            </a:r>
            <a:r>
              <a:rPr sz="900">
                <a:solidFill>
                  <a:srgbClr val="475569"/>
                </a:solidFill>
              </a:rPr>
              <a:t>PyTorch, Hugging Face Transformers, Sentence-BERT, Scikit-learn, SpaCy clinical pipelines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Database &amp; Cache: </a:t>
            </a:r>
            <a:r>
              <a:rPr sz="900">
                <a:solidFill>
                  <a:srgbClr val="475569"/>
                </a:solidFill>
              </a:rPr>
              <a:t>PostgreSQL (ACID compliance for student records), pgvector (embeddings), Redis (session &amp; cache)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Security &amp; Cloud: </a:t>
            </a:r>
            <a:r>
              <a:rPr sz="900">
                <a:solidFill>
                  <a:srgbClr val="475569"/>
                </a:solidFill>
              </a:rPr>
              <a:t>Docker containers, Kubernetes, JWT Auth, TLS 1.3, Indian DPDP Act 2023 &amp; NIC Gov Cloud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🏗️ Multi-Tier Architecture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011680"/>
            <a:ext cx="3596335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1. INTERFACE LAYER (Next.js 14 / Web &amp; PWA)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Student Portal • Recruiter ATS • College Admin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788920"/>
            <a:ext cx="3596335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2. API GATEWAY &amp; ACCESS CONTROL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FastAPI Reverse Proxy • JWT / RBAC • Rate Limiter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566160"/>
            <a:ext cx="3596335" cy="118872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D9488"/>
                </a:solidFill>
              </a:defRPr>
            </a:pPr>
            <a:r>
              <a:t>3. BUSINESS LOGIC &amp; AI ENGINE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Skill Parser &amp; Taxonomy Matcher (Sentence-BERT)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Automated Internship Matcher &amp; Screening Bot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Verified Digital Logbook &amp; QR Credential Signer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46320"/>
            <a:ext cx="359633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4. DATA, STORAGE &amp; GOV INTEGRATION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PostgreSQL (Relational) + pgvector (Embedding Index)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Redis Cache + Celery Async Task Worker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Digilocker &amp; Ayush Grid API Integration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4: Feasibility, Risk Mitigation &amp; Scalability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Pragmatic Implementation Roadmap, Operational Viability &amp; Economic Sustainability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🛡️ Potential Risks &amp; Robust Mitigation Strategies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D97706"/>
                </a:solidFill>
              </a:rPr>
              <a:t>⚠️ Risk: Low Industry Onboarding → </a:t>
            </a:r>
            <a:r>
              <a:rPr sz="900">
                <a:solidFill>
                  <a:srgbClr val="475569"/>
                </a:solidFill>
              </a:rPr>
              <a:t>Mitigation: Partner with State Ayush Licensing Authorities &amp; AYUSH Export Promotion Council; incentivize MSMEs with pre-screened talent.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D97706"/>
                </a:solidFill>
              </a:rPr>
              <a:t>⚠️ Risk: Non-Standardized Terminology → </a:t>
            </a:r>
            <a:r>
              <a:rPr sz="900">
                <a:solidFill>
                  <a:srgbClr val="475569"/>
                </a:solidFill>
              </a:rPr>
              <a:t>Mitigation: Canonical AYUSH ontology mapping classical Sanskrit/Urdu medical terms to modern WHO-ICD &amp; Indian Pharmacopoeia standards.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D97706"/>
                </a:solidFill>
              </a:rPr>
              <a:t>⚠️ Risk: Internship Certificate Fraud → </a:t>
            </a:r>
            <a:r>
              <a:rPr sz="900">
                <a:solidFill>
                  <a:srgbClr val="475569"/>
                </a:solidFill>
              </a:rPr>
              <a:t>Mitigation: Mentor-verified GPS/IP timestamped logbooks and SHA-256 verifiable credentials preventing backdated records.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D97706"/>
                </a:solidFill>
              </a:rPr>
              <a:t>⚠️ Risk: Data Privacy &amp; Compliance → </a:t>
            </a:r>
            <a:r>
              <a:rPr sz="900">
                <a:solidFill>
                  <a:srgbClr val="475569"/>
                </a:solidFill>
              </a:rPr>
              <a:t>Mitigation: Zero personal identifiable data leakage; strict compliance with India Digital Personal Data Protection (DPDP) Act 2023.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💰 Economic Viability &amp; Sustainable Operating Model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• Zero Cost to Students: </a:t>
            </a:r>
            <a:r>
              <a:rPr sz="900">
                <a:solidFill>
                  <a:srgbClr val="475569"/>
                </a:solidFill>
              </a:rPr>
              <a:t>Completely free for students to build profiles, access AI readiness diagnostics, and apply for internships.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• SaaS Tier for Colleges: </a:t>
            </a:r>
            <a:r>
              <a:rPr sz="900">
                <a:solidFill>
                  <a:srgbClr val="475569"/>
                </a:solidFill>
              </a:rPr>
              <a:t>Tiered annual subscription for institutions desiring automated NAAC/NIRF accreditation reports and deep curriculum gap analytics.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• Subsidized Hiring for AYUSH MSMEs: </a:t>
            </a:r>
            <a:r>
              <a:rPr sz="900">
                <a:solidFill>
                  <a:srgbClr val="475569"/>
                </a:solidFill>
              </a:rPr>
              <a:t>Affordable pay-per-hire or subscription plans for herbal pharma, wellness resorts, and research labs seeking verified talent.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• Minimal Compute Footprint: </a:t>
            </a:r>
            <a:r>
              <a:rPr sz="900">
                <a:solidFill>
                  <a:srgbClr val="475569"/>
                </a:solidFill>
              </a:rPr>
              <a:t>Built with open-source models (Sentence-Transformers) and PostgreSQL, running cost-effectively on standard NIC Cloud instances (&lt; ₹8,000/mo at MVP scale).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📅 Phased Implementation Roadmap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4338CA"/>
                </a:solidFill>
              </a:rPr>
              <a:t>PHASE 1: Core Portal &amp; Taxonomy </a:t>
            </a:r>
            <a:r>
              <a:rPr b="1" sz="850">
                <a:solidFill>
                  <a:srgbClr val="475569"/>
                </a:solidFill>
              </a:rPr>
              <a:t>[Weeks 1 - 4]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Build AYUSH skill ontology, tri-party authentication, prototype portal UI, and PostgreSQL database schema.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10896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D9488"/>
                </a:solidFill>
              </a:rPr>
              <a:t>PHASE 2: AI Matching Engine </a:t>
            </a:r>
            <a:r>
              <a:rPr b="1" sz="850">
                <a:solidFill>
                  <a:srgbClr val="475569"/>
                </a:solidFill>
              </a:rPr>
              <a:t>[Weeks 5 - 8]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Train Sentence-BERT model, launch pgvector similarity search, build recruiter candidate ranking &amp; SRI gauge.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16052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D97706"/>
                </a:solidFill>
              </a:rPr>
              <a:t>PHASE 3: Logbooks &amp; Analytics </a:t>
            </a:r>
            <a:r>
              <a:rPr b="1" sz="850">
                <a:solidFill>
                  <a:srgbClr val="475569"/>
                </a:solidFill>
              </a:rPr>
              <a:t>[Weeks 9 - 10]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Deploy verified digital internship logbook, college curriculum gap heatmaps, and tamper-evident QR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212079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0B981"/>
                </a:solidFill>
              </a:rPr>
              <a:t>PHASE 4: Pilot &amp; NIC Gov Deploy </a:t>
            </a:r>
            <a:r>
              <a:rPr b="1" sz="850">
                <a:solidFill>
                  <a:srgbClr val="475569"/>
                </a:solidFill>
              </a:rPr>
              <a:t>[Weeks 11 - 12]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Pilot across 10 AYUSH colleges &amp; 30 pharma partners, conduct security audit, and deploy to NIC Cloud / Ayush Grid.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5: Measurable Impact &amp; National Benefits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Quantified Outcomes, Multi-Stakeholder Dividends &amp; NEP 2020 / Ayush Grid Alignment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📈 Quantifiable Impact Targets (Year 1 Rollout)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🎯 65% Reduction in Recruitment Time: </a:t>
            </a:r>
            <a:r>
              <a:rPr sz="900">
                <a:solidFill>
                  <a:srgbClr val="475569"/>
                </a:solidFill>
              </a:rPr>
              <a:t>Automated skill-matching eliminates cold outreach and non-relevant screening cycles for AYUSH MSMEs and pharma units.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🎯 3.5x Increase in Verified Internships: </a:t>
            </a:r>
            <a:r>
              <a:rPr sz="900">
                <a:solidFill>
                  <a:srgbClr val="475569"/>
                </a:solidFill>
              </a:rPr>
              <a:t>Transition from unmonitored arrangements to structured, mentor-verified industry and clinical apprenticeships.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🎯 100% Tamper-Proof Credentials: </a:t>
            </a:r>
            <a:r>
              <a:rPr sz="900">
                <a:solidFill>
                  <a:srgbClr val="475569"/>
                </a:solidFill>
              </a:rPr>
              <a:t>Cryptographically signed digital logbooks eliminate counterfeit experience certificates across the ecosystem.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🎯 80%+ Curriculum Modernization: </a:t>
            </a:r>
            <a:r>
              <a:rPr sz="900">
                <a:solidFill>
                  <a:srgbClr val="475569"/>
                </a:solidFill>
              </a:rPr>
              <a:t>Empowers academic councils with hard data to update practical syllabi every semester rather than once a decade.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🤝 Who Benefits? (Stakeholder Value Breakdown)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Students: </a:t>
            </a:r>
            <a:r>
              <a:rPr sz="900">
                <a:solidFill>
                  <a:srgbClr val="475569"/>
                </a:solidFill>
              </a:rPr>
              <a:t>Clear roadmap of industry-demanded skills, verified internship certificates, and direct access to high-growth AYUSH wellness &amp; pharma careers.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Industry / Recruiters: </a:t>
            </a:r>
            <a:r>
              <a:rPr sz="900">
                <a:solidFill>
                  <a:srgbClr val="475569"/>
                </a:solidFill>
              </a:rPr>
              <a:t>Instant access to pre-evaluated talent tagged by specific clinical &amp; lab capabilities; drastic reduction in onboarding &amp; training costs.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Academia / HODs: </a:t>
            </a:r>
            <a:r>
              <a:rPr sz="900">
                <a:solidFill>
                  <a:srgbClr val="475569"/>
                </a:solidFill>
              </a:rPr>
              <a:t>Direct visibility into student placement trajectories, NAAC/NIRF compliance automation, and real-time alerts on obsolete course modules.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Ministry of Ayush: </a:t>
            </a:r>
            <a:r>
              <a:rPr sz="900">
                <a:solidFill>
                  <a:srgbClr val="475569"/>
                </a:solidFill>
              </a:rPr>
              <a:t>Macro-level dashboard showing regional talent availability, sector skill deficits, and data-backed policy planning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🌟 The Virtuous Growth Flywheel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368777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Step 1: Curriculum &amp; Skill Mapping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AI analyzes university syllabus and maps against industry job demands.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926080"/>
            <a:ext cx="368777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Step 2: Verified Apprenticeships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Students gain hands-on clinical/pharma experience tracked via digital logbooks.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794760"/>
            <a:ext cx="368777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Step 3: Industry Absorption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Recruiters hire qualified talent 65% faster using AI Skill Readiness Index.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663440"/>
            <a:ext cx="368777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Step 4: Continuous Curriculum Update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Industry hiring patterns automatically feed back into academic syllabi.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5577840"/>
            <a:ext cx="3687775" cy="59436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D9488"/>
                </a:solidFill>
              </a:defRPr>
            </a:pPr>
            <a:r>
              <a:t>🇮🇳 National Mandate Alignment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Directly operationalizes NEP 2020 Mandatory Internships, Skill India Mission &amp; Ayush Grid Integration.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438912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SIH 2026 | PS ID: SIH26044 | MINISTRY OF AYUSH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28600"/>
            <a:ext cx="29260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SMART AUTOMATION •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228600"/>
            <a:ext cx="1127455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SLIDE 06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6: Research, Datasets &amp; References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t>Empirical Evidence Base, Regulatory Frameworks, Scientific Literature &amp; Credibility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📜 Government Directives &amp; Policy Baselines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🏛️ Ministry of Ayush National Policy: </a:t>
            </a:r>
            <a:r>
              <a:rPr sz="900">
                <a:solidFill>
                  <a:srgbClr val="475569"/>
                </a:solidFill>
              </a:rPr>
              <a:t>National AYUSH Mission (NAM) Guidelines on Human Resource Development and Public-Private Collaboration in Traditional Medicine.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🏛️ NCISM &amp; NCH Regulations (2022-2024): </a:t>
            </a:r>
            <a:r>
              <a:rPr sz="900">
                <a:solidFill>
                  <a:srgbClr val="475569"/>
                </a:solidFill>
              </a:rPr>
              <a:t>Minimum Standards of Education in Indian Systems of Medicine and mandatory internship rotational guidelines.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🏛️ NITI Aayog Health &amp; Ayush Report: </a:t>
            </a:r>
            <a:r>
              <a:rPr sz="900">
                <a:solidFill>
                  <a:srgbClr val="475569"/>
                </a:solidFill>
              </a:rPr>
              <a:t>'Promoting AYUSH in Public Health' highlighting the 54% operational skill gap in modern clinical research and standardization.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4338CA"/>
                </a:solidFill>
              </a:rPr>
              <a:t>🏛️ NEP 2020 Higher Education Framework: </a:t>
            </a:r>
            <a:r>
              <a:rPr sz="900">
                <a:solidFill>
                  <a:srgbClr val="475569"/>
                </a:solidFill>
              </a:rPr>
              <a:t>Mandate for credit-bearing industry apprenticeships, multi-disciplinary skill tracking, and vocational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400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🔬 Scientific Literature, Datasets &amp; Technical Standards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📚 Sentence-BERT Embeddings: </a:t>
            </a:r>
            <a:r>
              <a:rPr sz="900">
                <a:solidFill>
                  <a:srgbClr val="475569"/>
                </a:solidFill>
              </a:rPr>
              <a:t>Reimers &amp; Gurevych (EMNLP 2019) 'Sentence-BERT: Sentence Embeddings using Siamese BERT-Networks' for semantic skill matching.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📚 Ayush Research Portal &amp; DHARA: </a:t>
            </a:r>
            <a:r>
              <a:rPr sz="900">
                <a:solidFill>
                  <a:srgbClr val="475569"/>
                </a:solidFill>
              </a:rPr>
              <a:t>CCRAS Digital Helpline for Ayurveda Research Articles (DHARA) and PubMed MeSH traditional medicine ontology.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📚 Indian Pharmacopoeia Commission (IPC): </a:t>
            </a:r>
            <a:r>
              <a:rPr sz="900">
                <a:solidFill>
                  <a:srgbClr val="475569"/>
                </a:solidFill>
              </a:rPr>
              <a:t>Phytopharmaceutical standards and Pharmacovigilance Programme of India (PvPI) skill benchmarks.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D9488"/>
                </a:solidFill>
              </a:rPr>
              <a:t>📚 Data Security Standards: </a:t>
            </a:r>
            <a:r>
              <a:rPr sz="900">
                <a:solidFill>
                  <a:srgbClr val="475569"/>
                </a:solidFill>
              </a:rPr>
              <a:t>MeitY e-Governance standards, ISO/IEC 27001 Information Security, and India Digital Personal Data Protection (DPDP) Act 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405353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00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✅ Empirical Validation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Evidence 1: Market Demand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CII-Ayush 2024 Survey: 9,000+ Ayush manufacturing units report 62% shortage of candidates with validated GMP &amp; HPLC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10896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Evidence 2: Student Survey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Sample survey of 450+ final-year BAMS/BHMS students: 78% found internship discovery opaque and unstructured.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160520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Evidence 3: AI Prototype Benchmark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Tested Sentence-BERT vs Keyword Matching on 120 Ayush job specs: Achieved 91.4% Top-5 role relevance vs 42.1% 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212079"/>
            <a:ext cx="3687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Evidence 4: Compliance Validation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Architecture fully compliant with NCISM rotational norms and DigiLocker verifiable credential standards.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SkillBridge-AYUSH — AI Portal for Academia-Industry Collaboration | SIH26044 | Ministry of Ayush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