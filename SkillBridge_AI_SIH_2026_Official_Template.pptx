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8686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4B8C"/>
                </a:solidFill>
              </a:defRPr>
            </a:pPr>
            <a:r>
              <a:t>SMART INDIA HACKATHON 2026</a:t>
            </a:r>
          </a:p>
        </p:txBody>
      </p:sp>
      <p:pic>
        <p:nvPicPr>
          <p:cNvPr id="3" name="Picture 2" descr="sih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228600"/>
            <a:ext cx="1675487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1051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TITLE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731520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320040"/>
          <a:lstStyle/>
          <a:p>
            <a:pPr algn="ctr"/>
            <a:r>
              <a:rPr b="1" sz="1400">
                <a:solidFill>
                  <a:srgbClr val="0F172A"/>
                </a:solidFill>
              </a:rPr>
              <a:t>• Problem Statement ID – </a:t>
            </a:r>
            <a:r>
              <a:rPr sz="1350" b="1">
                <a:solidFill>
                  <a:srgbClr val="0072CE"/>
                </a:solidFill>
              </a:rPr>
              <a:t>SIH26044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0F172A"/>
                </a:solidFill>
              </a:rPr>
              <a:t>• Problem Statement Title – </a:t>
            </a:r>
            <a:r>
              <a:rPr sz="1350" b="0">
                <a:solidFill>
                  <a:srgbClr val="1E293B"/>
                </a:solidFill>
              </a:rPr>
              <a:t>Portal for Academia - Industry collaboration for Skill Mapping, Internships and Placement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0F172A"/>
                </a:solidFill>
              </a:rPr>
              <a:t>• Theme – </a:t>
            </a:r>
            <a:r>
              <a:rPr sz="1350" b="1">
                <a:solidFill>
                  <a:srgbClr val="0072CE"/>
                </a:solidFill>
              </a:rPr>
              <a:t>Smart Automation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0F172A"/>
                </a:solidFill>
              </a:rPr>
              <a:t>• PS Category – </a:t>
            </a:r>
            <a:r>
              <a:rPr sz="1350" b="0">
                <a:solidFill>
                  <a:srgbClr val="1E293B"/>
                </a:solidFill>
              </a:rPr>
              <a:t>Software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0F172A"/>
                </a:solidFill>
              </a:rPr>
              <a:t>• Team ID – </a:t>
            </a:r>
            <a:r>
              <a:rPr sz="1350" b="1">
                <a:solidFill>
                  <a:srgbClr val="0072CE"/>
                </a:solidFill>
              </a:rPr>
              <a:t>SIH2026-TEAM-APEX-44</a:t>
            </a:r>
          </a:p>
          <a:p>
            <a:pPr>
              <a:spcBef>
                <a:spcPts val="1200"/>
              </a:spcBef>
            </a:pPr>
            <a:r>
              <a:rPr b="1" sz="1400">
                <a:solidFill>
                  <a:srgbClr val="0F172A"/>
                </a:solidFill>
              </a:rPr>
              <a:t>• Team Name (Registered on portal) – </a:t>
            </a:r>
            <a:r>
              <a:rPr sz="1350" b="1">
                <a:solidFill>
                  <a:srgbClr val="0072CE"/>
                </a:solidFill>
              </a:rPr>
              <a:t>Team Apex (Project: SkillBridge AI)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23560"/>
            <a:ext cx="7315200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Team Leader: Manish Yadav (Full-Stack &amp; DB Lead) • Domain: Ministry of Ayush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Team Specializations: AI/NLP Systems • FastAPI Backend • Next.js Frontend • Compliance</a:t>
            </a:r>
          </a:p>
        </p:txBody>
      </p:sp>
      <p:pic>
        <p:nvPicPr>
          <p:cNvPr id="7" name="Picture 6" descr="sih_bulb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691640"/>
            <a:ext cx="346009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566928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072CE"/>
                </a:solidFill>
              </a:defRPr>
            </a:pPr>
            <a:r>
              <a:t>SkillBridge AI: National Skill Mapping &amp; Verified Placement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32588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72CE"/>
                </a:solidFill>
              </a:defRPr>
            </a:pPr>
            <a:r>
              <a:t>Apex</a:t>
            </a:r>
          </a:p>
        </p:txBody>
      </p:sp>
      <p:pic>
        <p:nvPicPr>
          <p:cNvPr id="3" name="Picture 2" descr="sih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82880"/>
            <a:ext cx="1675487" cy="7772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SkillBridge AI • Ministry of Ayush • Problem Statement ID: SIH26044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4B8C"/>
                </a:solidFill>
              </a:defRPr>
            </a:pPr>
            <a:r>
              <a:t>IDEA TITLE: SkillBridge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777240"/>
            <a:ext cx="10728655" cy="438912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💡 Tagline: An AI-powered bridge connecting Academia, Students, and Industry via verified skills and digital logbooks.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A4B8C"/>
                </a:solidFill>
              </a:defRPr>
            </a:pPr>
            <a:r>
              <a:t>❖Proposed Solution (Describe your Idea/Solution/Prototype)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486400" cy="4617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• Detailed explanation of the proposed solution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072CE"/>
                </a:solidFill>
              </a:rPr>
              <a:t>– Tri-Party Hub: </a:t>
            </a:r>
            <a:r>
              <a:rPr sz="900">
                <a:solidFill>
                  <a:srgbClr val="1E293B"/>
                </a:solidFill>
              </a:rPr>
              <a:t>Synchronized portal for Students, College HODs, and AYUSH MSMEs.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072CE"/>
                </a:solidFill>
              </a:rPr>
              <a:t>– AI Skill Readiness Index (SRI): </a:t>
            </a:r>
            <a:r>
              <a:rPr sz="900">
                <a:solidFill>
                  <a:srgbClr val="1E293B"/>
                </a:solidFill>
              </a:rPr>
              <a:t>Deterministic 0-100% score quantifying role readiness.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0072CE"/>
                </a:solidFill>
              </a:rPr>
              <a:t>– Digital Geo-Logbook: </a:t>
            </a:r>
            <a:r>
              <a:rPr sz="900">
                <a:solidFill>
                  <a:srgbClr val="1E293B"/>
                </a:solidFill>
              </a:rPr>
              <a:t>Mentor-validated daily tasks with cryptographic QR verification.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How it addresses the problem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D97706"/>
                </a:solidFill>
              </a:rPr>
              <a:t>– Solves 62% Industry Deficit: </a:t>
            </a:r>
            <a:r>
              <a:rPr sz="900">
                <a:solidFill>
                  <a:srgbClr val="1E293B"/>
                </a:solidFill>
              </a:rPr>
              <a:t>Bridges theory syllabus with GMP, HPLC &amp; clinical QC.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D97706"/>
                </a:solidFill>
              </a:rPr>
              <a:t>– Eliminates Fake Credentials: </a:t>
            </a:r>
            <a:r>
              <a:rPr sz="900">
                <a:solidFill>
                  <a:srgbClr val="1E293B"/>
                </a:solidFill>
              </a:rPr>
              <a:t>Mentor sign-offs replace counterfeit paper letters.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D97706"/>
                </a:solidFill>
              </a:rPr>
              <a:t>– Real-time Syllabus Heatmaps: </a:t>
            </a:r>
            <a:r>
              <a:rPr sz="900">
                <a:solidFill>
                  <a:srgbClr val="1E293B"/>
                </a:solidFill>
              </a:rPr>
              <a:t>Alerts Deans on obsolete modules using recruiter demand.</a:t>
            </a:r>
          </a:p>
          <a:p>
            <a:pPr>
              <a:spcBef>
                <a:spcPts val="800"/>
              </a:spcBef>
              <a:defRPr sz="1200" b="1">
                <a:solidFill>
                  <a:srgbClr val="0F172A"/>
                </a:solidFill>
              </a:defRPr>
            </a:pPr>
            <a:r>
              <a:t>• Innovation and uniqueness of the solution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10956A"/>
                </a:solidFill>
              </a:rPr>
              <a:t>– Domain-Native Ontology: </a:t>
            </a:r>
            <a:r>
              <a:rPr sz="900">
                <a:solidFill>
                  <a:srgbClr val="1E293B"/>
                </a:solidFill>
              </a:rPr>
              <a:t>Sentence-BERT maps classical herbs to modern pharmacopoeia.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10956A"/>
                </a:solidFill>
              </a:rPr>
              <a:t>– Explainable SRI Formula: </a:t>
            </a:r>
            <a:r>
              <a:rPr sz="900">
                <a:solidFill>
                  <a:srgbClr val="1E293B"/>
                </a:solidFill>
              </a:rPr>
              <a:t>40% Coursework + 35% Lab Hours + 25% Assessments.</a:t>
            </a:r>
          </a:p>
          <a:p>
            <a:pPr>
              <a:spcBef>
                <a:spcPts val="200"/>
              </a:spcBef>
            </a:pPr>
            <a:r>
              <a:rPr b="1" sz="950">
                <a:solidFill>
                  <a:srgbClr val="10956A"/>
                </a:solidFill>
              </a:rPr>
              <a:t>– Closed-Loop Accountability: </a:t>
            </a:r>
            <a:r>
              <a:rPr sz="900">
                <a:solidFill>
                  <a:srgbClr val="1E293B"/>
                </a:solidFill>
              </a:rPr>
              <a:t>Continuous feedback cycle: Gap ➔ Training ➔ Placement.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45920"/>
            <a:ext cx="5010912" cy="46177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783080"/>
            <a:ext cx="4736592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🖥️ Live Platform Wireframe: Student, Recruiter &amp; College Modules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194560"/>
            <a:ext cx="473659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Student Dashboard: Ayush Sharma (BAMS Final Year)</a:t>
            </a:r>
          </a:p>
          <a:p>
            <a:pPr>
              <a:defRPr b="1" sz="950">
                <a:solidFill>
                  <a:srgbClr val="10956A"/>
                </a:solidFill>
              </a:defRPr>
            </a:pPr>
            <a:r>
              <a:t>• AI Skill Readiness Index (SRI):  88% [Match: QC Specialist]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Verified Logbook: 180 Hrs Validated | 4 Case Studies | Digital QR 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520440"/>
            <a:ext cx="473659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Recruiter ATS: Dabur Research Labs</a:t>
            </a:r>
          </a:p>
          <a:p>
            <a:pPr>
              <a:defRPr b="1" sz="950">
                <a:solidFill>
                  <a:srgbClr val="D97706"/>
                </a:solidFill>
              </a:defRPr>
            </a:pPr>
            <a:r>
              <a:t>• Filter: 'GMP &amp; HPLC Extraction' ➔ 14 Candidates Matched (&lt; 42ms)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1-Click Offer Dispatch | Pre-Vetted Practical Clinical Proficiencies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846320"/>
            <a:ext cx="4736592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b="1" sz="1000">
                <a:solidFill>
                  <a:srgbClr val="0F172A"/>
                </a:solidFill>
              </a:defRPr>
            </a:pPr>
            <a:r>
              <a:t>Academic Council: Curriculum Gap Heatmap Alert</a:t>
            </a:r>
          </a:p>
          <a:p>
            <a:pPr>
              <a:defRPr b="1" sz="950">
                <a:solidFill>
                  <a:srgbClr val="6D28D9"/>
                </a:solidFill>
              </a:defRPr>
            </a:pPr>
            <a:r>
              <a:t>• Gap Detected: 64% Recruiter Demand for Phytopharma QC vs 20% Syllabus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• Action: Auto-generated NAAC/NIRF report &amp; module update proposal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32588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72CE"/>
                </a:solidFill>
              </a:defRPr>
            </a:pPr>
            <a:r>
              <a:t>Apex</a:t>
            </a:r>
          </a:p>
        </p:txBody>
      </p:sp>
      <p:pic>
        <p:nvPicPr>
          <p:cNvPr id="3" name="Picture 2" descr="sih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82880"/>
            <a:ext cx="1675487" cy="7772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SkillBridge AI • Ministry of Ayush • Problem Statement ID: SIH26044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4B8C"/>
                </a:solidFill>
              </a:defRPr>
            </a:pPr>
            <a:r>
              <a:t>TECHNICAL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914400"/>
            <a:ext cx="33832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200" b="1">
                <a:solidFill>
                  <a:srgbClr val="0072CE"/>
                </a:solidFill>
              </a:defRPr>
            </a:pPr>
            <a:r>
              <a:t>📥 1. INPUT LAYER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172A"/>
                </a:solidFill>
              </a:rPr>
              <a:t>• Student Profiles: </a:t>
            </a:r>
            <a:r>
              <a:rPr sz="900">
                <a:solidFill>
                  <a:srgbClr val="1E293B"/>
                </a:solidFill>
              </a:rPr>
              <a:t>Coursework, clinical hours, validated certificates &amp; badge data.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172A"/>
                </a:solidFill>
              </a:rPr>
              <a:t>• Recruiter Demands: </a:t>
            </a:r>
            <a:r>
              <a:rPr sz="900">
                <a:solidFill>
                  <a:srgbClr val="1E293B"/>
                </a:solidFill>
              </a:rPr>
              <a:t>Job role specifications, required lab proficiencies, minimum SRI.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172A"/>
                </a:solidFill>
              </a:rPr>
              <a:t>• Academic Syllabi: </a:t>
            </a:r>
            <a:r>
              <a:rPr sz="900">
                <a:solidFill>
                  <a:srgbClr val="1E293B"/>
                </a:solidFill>
              </a:rPr>
              <a:t>NCISM competency curricula &amp; college course guidelines.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60520" y="2103120"/>
            <a:ext cx="228600" cy="320040"/>
          </a:xfrm>
          <a:prstGeom prst="rightArrow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914400"/>
            <a:ext cx="33832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200" b="1">
                <a:solidFill>
                  <a:srgbClr val="6D28D9"/>
                </a:solidFill>
              </a:defRPr>
            </a:pPr>
            <a:r>
              <a:t>⚙️ 2. AI PROCESSING ENGINE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S-BERT Extraction: </a:t>
            </a:r>
            <a:r>
              <a:rPr sz="900">
                <a:solidFill>
                  <a:srgbClr val="1E293B"/>
                </a:solidFill>
              </a:rPr>
              <a:t>HuggingFace model generates 384-dim semantic skill embeddings.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pgvector Search: </a:t>
            </a:r>
            <a:r>
              <a:rPr sz="900">
                <a:solidFill>
                  <a:srgbClr val="1E293B"/>
                </a:solidFill>
              </a:rPr>
              <a:t>HNSW cosine indexing returns candidate matches in &lt; 45 ms.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SRI Scoring Engine: </a:t>
            </a:r>
            <a:r>
              <a:rPr sz="900">
                <a:solidFill>
                  <a:srgbClr val="1E293B"/>
                </a:solidFill>
              </a:rPr>
              <a:t>Deterministic SRI = 40% Course + 35% Lab + 25% Assessments.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SHA-256 Sign-Off: </a:t>
            </a:r>
            <a:r>
              <a:rPr sz="900">
                <a:solidFill>
                  <a:srgbClr val="1E293B"/>
                </a:solidFill>
              </a:rPr>
              <a:t>Cryptographic hash anchoring prevents fraudulent letters.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63840" y="2103120"/>
            <a:ext cx="228600" cy="320040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914400"/>
            <a:ext cx="33832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sz="1200" b="1">
                <a:solidFill>
                  <a:srgbClr val="10956A"/>
                </a:solidFill>
              </a:defRPr>
            </a:pPr>
            <a:r>
              <a:t>📤 3. OUTPUT DELIVERABLES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172A"/>
                </a:solidFill>
              </a:rPr>
              <a:t>• For Students: </a:t>
            </a:r>
            <a:r>
              <a:rPr sz="900">
                <a:solidFill>
                  <a:srgbClr val="1E293B"/>
                </a:solidFill>
              </a:rPr>
              <a:t>Personalized skill gap diagnostics &amp; verified internship pathways.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172A"/>
                </a:solidFill>
              </a:rPr>
              <a:t>• For Recruiters: </a:t>
            </a:r>
            <a:r>
              <a:rPr sz="900">
                <a:solidFill>
                  <a:srgbClr val="1E293B"/>
                </a:solidFill>
              </a:rPr>
              <a:t>Ranked shortlist of candidates with mentor-validated proficiencies.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172A"/>
                </a:solidFill>
              </a:rPr>
              <a:t>• For Colleges: </a:t>
            </a:r>
            <a:r>
              <a:rPr sz="900">
                <a:solidFill>
                  <a:srgbClr val="1E293B"/>
                </a:solidFill>
              </a:rPr>
              <a:t>Automated NAAC/NIRF placement audits &amp; real-time syllabus heatmaps.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728655" cy="24231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4B8C"/>
                </a:solidFill>
              </a:defRPr>
            </a:pPr>
            <a:r>
              <a:t>🛠️ Technologies to be Used &amp; Architectural Components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343400"/>
            <a:ext cx="242316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/>
          <a:lstStyle/>
          <a:p>
            <a:pPr algn="ctr">
              <a:defRPr b="1" sz="1000">
                <a:solidFill>
                  <a:srgbClr val="0072CE"/>
                </a:solidFill>
              </a:defRPr>
            </a:pPr>
            <a:r>
              <a:t>Frontend &amp; Presentation</a:t>
            </a:r>
          </a:p>
          <a:p>
            <a:pPr algn="ctr"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Next.js 14, React 18, TypeScript</a:t>
            </a:r>
            <a:br/>
            <a:r>
              <a:t>Tailwind CSS, Shadcn UI</a:t>
            </a:r>
            <a:br/>
            <a:r>
              <a:t>Responsive Mobile-First PWA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343400"/>
            <a:ext cx="242316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/>
          <a:lstStyle/>
          <a:p>
            <a:pPr algn="ctr">
              <a:defRPr b="1" sz="1000">
                <a:solidFill>
                  <a:srgbClr val="6D28D9"/>
                </a:solidFill>
              </a:defRPr>
            </a:pPr>
            <a:r>
              <a:t>Backend Services</a:t>
            </a:r>
          </a:p>
          <a:p>
            <a:pPr algn="ctr"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Python 3.11 FastAPI</a:t>
            </a:r>
            <a:br/>
            <a:r>
              <a:t>Asynchronous Microservices</a:t>
            </a:r>
            <a:br/>
            <a:r>
              <a:t>Celery Distributed Task 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343400"/>
            <a:ext cx="242316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/>
          <a:lstStyle/>
          <a:p>
            <a:pPr algn="ctr">
              <a:defRPr b="1" sz="1000">
                <a:solidFill>
                  <a:srgbClr val="10956A"/>
                </a:solidFill>
              </a:defRPr>
            </a:pPr>
            <a:r>
              <a:t>AI / ML Pipeline</a:t>
            </a:r>
          </a:p>
          <a:p>
            <a:pPr algn="ctr"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Sentence-Transformers (384-dim)</a:t>
            </a:r>
            <a:br/>
            <a:r>
              <a:t>PyTorch, Hugging Face</a:t>
            </a:r>
            <a:br/>
            <a:r>
              <a:t>SpaCy AYUSH Named Entity Recog.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4343400"/>
            <a:ext cx="242316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09728"/>
          <a:lstStyle/>
          <a:p>
            <a:pPr algn="ctr">
              <a:defRPr b="1" sz="1000">
                <a:solidFill>
                  <a:srgbClr val="D97706"/>
                </a:solidFill>
              </a:defRPr>
            </a:pPr>
            <a:r>
              <a:t>Database &amp; Security</a:t>
            </a:r>
          </a:p>
          <a:p>
            <a:pPr algn="ctr"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PostgreSQL 16 + pgvector</a:t>
            </a:r>
            <a:br/>
            <a:r>
              <a:t>Redis 7.2 Session Cache, Docker</a:t>
            </a:r>
            <a:br/>
            <a:r>
              <a:t>TLS 1.3, Indian DPDP Act 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32588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72CE"/>
                </a:solidFill>
              </a:defRPr>
            </a:pPr>
            <a:r>
              <a:t>Apex</a:t>
            </a:r>
          </a:p>
        </p:txBody>
      </p:sp>
      <p:pic>
        <p:nvPicPr>
          <p:cNvPr id="3" name="Picture 2" descr="sih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82880"/>
            <a:ext cx="1675487" cy="7772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SkillBridge AI • Ministry of Ayush • Problem Statement ID: SIH26044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4B8C"/>
                </a:solidFill>
              </a:defRPr>
            </a:pPr>
            <a:r>
              <a:t>FEASIBILITY AND VIABILITY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868680"/>
            <a:ext cx="342900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100">
                <a:solidFill>
                  <a:srgbClr val="0072CE"/>
                </a:solidFill>
              </a:defRPr>
            </a:pPr>
            <a:r>
              <a:t>🔧 Technical Feasibility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Built 100% on open-source production frameworks (FastAPI, pgvector).</a:t>
            </a:r>
            <a:br/>
            <a:r>
              <a:t>• Sub-45ms search latency benchmarked on 500+ test records.</a:t>
            </a:r>
            <a:br/>
            <a:r>
              <a:t>• Zero proprietary recurring licensing dependencies.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868680"/>
            <a:ext cx="342900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100">
                <a:solidFill>
                  <a:srgbClr val="6D28D9"/>
                </a:solidFill>
              </a:defRPr>
            </a:pPr>
            <a:r>
              <a:t>👥 Team Skills &amp; Execution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Manish Yadav (Full-Stack &amp; DB Architecture Lead).</a:t>
            </a:r>
            <a:br/>
            <a:r>
              <a:t>• Strong AI/ML NLP expertise for domain embeddings.</a:t>
            </a:r>
            <a:br/>
            <a:r>
              <a:t>• Full compliance with NCISM rotational norms &amp; NEP 2020.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868680"/>
            <a:ext cx="3429000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100">
                <a:solidFill>
                  <a:srgbClr val="10956A"/>
                </a:solidFill>
              </a:defRPr>
            </a:pPr>
            <a:r>
              <a:t>💰 Economic Viability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Completely free for students to build profiles &amp; apply.</a:t>
            </a:r>
            <a:br/>
            <a:r>
              <a:t>• Low-cost SaaS tier for colleges (NIRF/NAAC reporting).</a:t>
            </a:r>
            <a:br/>
            <a:r>
              <a:t>• Minimal cloud compute footprint (&lt; ₹8,000/mo at MVP scale).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2651760"/>
          <a:ext cx="10728655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5973775"/>
              </a:tblGrid>
              <a:tr h="722376">
                <a:tc>
                  <a:txBody>
                    <a:bodyPr lIns="182880" tIns="73152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⚠️ Potential Challenges and Risks</a:t>
                      </a:r>
                    </a:p>
                  </a:txBody>
                  <a:tcPr>
                    <a:solidFill>
                      <a:srgbClr val="1A4B8C"/>
                    </a:solidFill>
                  </a:tcPr>
                </a:tc>
                <a:tc>
                  <a:txBody>
                    <a:bodyPr lIns="182880" tIns="73152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🛡️ Strategies for Overcoming (Mitigation Plan)</a:t>
                      </a:r>
                    </a:p>
                  </a:txBody>
                  <a:tcPr>
                    <a:solidFill>
                      <a:srgbClr val="0072CE"/>
                    </a:solidFill>
                  </a:tcPr>
                </a:tc>
              </a:tr>
              <a:tr h="722376">
                <a:tc>
                  <a:txBody>
                    <a:bodyPr lIns="137160" tIns="73152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1. Low Initial MSME Onboarding:</a:t>
                      </a:r>
                      <a:br/>
                      <a:r>
                        <a:t>Small herbal units may hesitate to transition to a digital system.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 lIns="137160" tIns="73152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Partner with State Licensing Authorities &amp; trade associations; auto-seed portal with public Ayush tenders; provide 1-click free hiring postings.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722376">
                <a:tc>
                  <a:txBody>
                    <a:bodyPr lIns="137160" tIns="73152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2. Ayurvedic &amp; Classical Terminology Variance:</a:t>
                      </a:r>
                      <a:br/>
                      <a:r>
                        <a:t>Sanskrit/Urdu curriculum terms differ from modern pharma job postings.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tIns="73152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Built-in standardized AYUSH Skill Thesaurus cross-referencing traditional terms with WHO-ICD standards and modern laboratory proficiencies.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 lIns="137160" tIns="73152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3. Counterfeit &amp; Fake Internship Certificates:</a:t>
                      </a:r>
                      <a:br/>
                      <a:r>
                        <a:t>Students submitting forged paper completion letters from unverified clinics.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 lIns="137160" tIns="73152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Mentor-verified daily digital logbooks with GPS &amp; IP timestamps and SHA-256 cryptographic hash anchoring to an instant QR verification portal.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722376">
                <a:tc>
                  <a:txBody>
                    <a:bodyPr lIns="137160" tIns="73152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4. Student Data Privacy &amp; Healthcare Records:</a:t>
                      </a:r>
                      <a:br/>
                      <a:r>
                        <a:t>Strict regulatory requirements under Indian digital governance frameworks.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37160" tIns="73152"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Role-Based Access Control (RBAC), end-to-end TLS 1.3 encryption, zero PII leakage, and strict adherence to the Indian DPDP Act 2023.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32588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72CE"/>
                </a:solidFill>
              </a:defRPr>
            </a:pPr>
            <a:r>
              <a:t>Apex</a:t>
            </a:r>
          </a:p>
        </p:txBody>
      </p:sp>
      <p:pic>
        <p:nvPicPr>
          <p:cNvPr id="3" name="Picture 2" descr="sih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82880"/>
            <a:ext cx="1675487" cy="7772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SkillBridge AI • Ministry of Ayush • Problem Statement ID: SIH26044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4B8C"/>
                </a:solidFill>
              </a:defRPr>
            </a:pPr>
            <a:r>
              <a:t>IMPACT AND BENEFITS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868680"/>
            <a:ext cx="5166360" cy="242316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1200" b="1">
                <a:solidFill>
                  <a:srgbClr val="E11D48"/>
                </a:solidFill>
              </a:defRPr>
            </a:pPr>
            <a:r>
              <a:t>❌ BEFORE (Current Fractured Status Quo)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🔴 65+ Days Hiring Cycle: MSMEs waste weeks filtering unvetted applicants.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🔴 Counterfeit Paper Credentials: Fake internship letters flood the market.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🔴 Syllabus Disconnect: Curricula updated once a decade; lacks GMP/QC training.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🔴 78% Students Stranded: BAMS/BHMS graduates lack structured corporate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874519"/>
            <a:ext cx="1051560" cy="411480"/>
          </a:xfrm>
          <a:prstGeom prst="roundRect">
            <a:avLst/>
          </a:prstGeom>
          <a:solidFill>
            <a:srgbClr val="1A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➔ WITH AI 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868680"/>
            <a:ext cx="5150815" cy="2423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1200" b="1">
                <a:solidFill>
                  <a:srgbClr val="10956A"/>
                </a:solidFill>
              </a:defRPr>
            </a:pPr>
            <a:r>
              <a:t>✅ AFTER (With SkillBridge AI Ecosystem)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🟢 &lt; 14 Days Hiring: Semantic vector matching shortlists candidates in &lt; 45 ms.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🟢 100% Tamper-Proof Logbooks: Cryptographic QR verification eliminates fraud.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🟢 Dynamic Curriculum Updates: HODs get real-time alerts on outdated modules.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🟢 Direct Career Mobility: Transparent SRI scores unlock high-growth placements.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3429000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100">
                <a:solidFill>
                  <a:srgbClr val="0072CE"/>
                </a:solidFill>
              </a:defRPr>
            </a:pPr>
            <a:r>
              <a:t>👥 Social Impact (Students &amp; Academia)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50,000+ Annual AYUSH Graduates access verified corporate internships.</a:t>
            </a:r>
            <a:br/>
            <a:r>
              <a:t>• Tier-2/Tier-3 college youth receive equal visibility via objective AI scoring.</a:t>
            </a:r>
            <a:br/>
            <a:r>
              <a:t>• Elevates traditional Indian medicine to global scientific research standards.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474720"/>
            <a:ext cx="3429000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💼 Economic Value (MSMEs &amp; Industry)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65% Reduction in hiring cycle for 9,000+ AYUSH manufacturing units.</a:t>
            </a:r>
            <a:br/>
            <a:r>
              <a:t>• Saves ₹15,000+ per hire by eliminating recruiter agency churn.</a:t>
            </a:r>
            <a:br/>
            <a:r>
              <a:t>• Productivity boost with day-1 ready talent trained in validated lab protocols.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474720"/>
            <a:ext cx="3429000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100">
                <a:solidFill>
                  <a:srgbClr val="6D28D9"/>
                </a:solidFill>
              </a:defRPr>
            </a:pPr>
            <a:r>
              <a:t>📈 Scalability &amp; National Alignment</a:t>
            </a:r>
          </a:p>
          <a:p>
            <a:pPr>
              <a:spcBef>
                <a:spcPts val="600"/>
              </a:spcBef>
              <a:defRPr sz="850">
                <a:solidFill>
                  <a:srgbClr val="1E293B"/>
                </a:solidFill>
              </a:defRPr>
            </a:pPr>
            <a:r>
              <a:t>• Fulfills National Education Policy (NEP 2020) mandatory internship credits.</a:t>
            </a:r>
            <a:br/>
            <a:r>
              <a:t>• Direct integration readiness with the Ministry of Ayush AYUSH GRID.</a:t>
            </a:r>
            <a:br/>
            <a:r>
              <a:t>• Generates real-time national talent supply heatmaps for policymaking.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182880"/>
            <a:ext cx="132588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Team</a:t>
            </a:r>
          </a:p>
          <a:p>
            <a:pPr algn="ctr">
              <a:defRPr sz="1100" b="1">
                <a:solidFill>
                  <a:srgbClr val="0072CE"/>
                </a:solidFill>
              </a:defRPr>
            </a:pPr>
            <a:r>
              <a:t>Apex</a:t>
            </a:r>
          </a:p>
        </p:txBody>
      </p:sp>
      <p:pic>
        <p:nvPicPr>
          <p:cNvPr id="3" name="Picture 2" descr="sih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82880"/>
            <a:ext cx="1675487" cy="7772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FFFFFF"/>
                </a:solidFill>
              </a:defRPr>
            </a:pPr>
            <a:r>
              <a:t>SkillBridge AI • Ministry of Ayush • Problem Statement ID: SIH26044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4B8C"/>
                </a:solidFill>
              </a:defRPr>
            </a:pPr>
            <a:r>
              <a:t>RESEARCH AND REFERENCES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868680"/>
            <a:ext cx="548640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37160"/>
          <a:lstStyle/>
          <a:p>
            <a:pPr algn="ctr">
              <a:defRPr sz="1250" b="1">
                <a:solidFill>
                  <a:srgbClr val="1A4B8C"/>
                </a:solidFill>
              </a:defRPr>
            </a:pPr>
            <a:r>
              <a:t>🏛️ Details / Links of Reference and Research Work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072CE"/>
                </a:solidFill>
              </a:rPr>
              <a:t>📚 National AYUSH Mission (NAM) Directives: </a:t>
            </a:r>
            <a:r>
              <a:rPr sz="850">
                <a:solidFill>
                  <a:srgbClr val="1E293B"/>
                </a:solidFill>
              </a:rPr>
              <a:t>Human resource development guidelines and academia-industry vocational linkage mandates. (ayush.gov.in)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072CE"/>
                </a:solidFill>
              </a:rPr>
              <a:t>📚 NCISM &amp; NCH Dynamic Curriculum Regulations: </a:t>
            </a:r>
            <a:r>
              <a:rPr sz="850">
                <a:solidFill>
                  <a:srgbClr val="1E293B"/>
                </a:solidFill>
              </a:rPr>
              <a:t>Competency-based minimum standards for education in Indian Systems of Medicine and mandatory rotational internship guidelines. (ncismindia.org)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072CE"/>
                </a:solidFill>
              </a:rPr>
              <a:t>📚 NITI Aayog Report — 'Promoting AYUSH in Public Health': </a:t>
            </a:r>
            <a:r>
              <a:rPr sz="850">
                <a:solidFill>
                  <a:srgbClr val="1E293B"/>
                </a:solidFill>
              </a:rPr>
              <a:t>Quantifies the 54% practical skill gap in modern standardization, quality control, and phytopharmaceutical research.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072CE"/>
                </a:solidFill>
              </a:rPr>
              <a:t>📚 Reimers &amp; Gurevych (EMNLP 2019) — Sentence-BERT: </a:t>
            </a:r>
            <a:r>
              <a:rPr sz="850">
                <a:solidFill>
                  <a:srgbClr val="1E293B"/>
                </a:solidFill>
              </a:rPr>
              <a:t>'Sentence Embeddings using Siamese BERT-Networks' — the algorithmic foundation used in our semantic skill matching engine.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0072CE"/>
                </a:solidFill>
              </a:rPr>
              <a:t>🔗 MeitY Open API &amp; India DPDP Act 2023: </a:t>
            </a:r>
            <a:r>
              <a:rPr sz="850">
                <a:solidFill>
                  <a:srgbClr val="1E293B"/>
                </a:solidFill>
              </a:rPr>
              <a:t>Government of India open standards for interoperability, verifiable digital credentials, and personal data protection.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868680"/>
            <a:ext cx="5010912" cy="5394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1051560"/>
            <a:ext cx="4736592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050">
                <a:solidFill>
                  <a:srgbClr val="6D28D9"/>
                </a:solidFill>
              </a:defRPr>
            </a:pPr>
            <a:r>
              <a:t>📊 Primary Survey: 450+ Final-Year AYUSH Students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78% of students reported zero structured access to corporate internships.</a:t>
            </a:r>
            <a:br/>
            <a:r>
              <a:t>• 84% stated their academic courses lacked practical laboratory/QC exposure.</a:t>
            </a:r>
            <a:br/>
            <a:r>
              <a:t>• 92% favored a verified digital logbook to demonstrate practical capabilities.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788920"/>
            <a:ext cx="4736592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050">
                <a:solidFill>
                  <a:srgbClr val="10956A"/>
                </a:solidFill>
              </a:defRPr>
            </a:pPr>
            <a:r>
              <a:t>⚡ Prototype Match Accuracy Benchmark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S-BERT Semantic Match:   91.4% Top-5 Role Precision</a:t>
            </a:r>
            <a:br/>
            <a:r>
              <a:t>• Keyword Baseline Match:  42.1% Precision (Misses synonyms &amp; context)</a:t>
            </a:r>
            <a:br/>
            <a:r>
              <a:t>• Matching Latency:        &lt; 42ms with pgvector HNSW indexing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526280"/>
            <a:ext cx="4736592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050">
                <a:solidFill>
                  <a:srgbClr val="0072CE"/>
                </a:solidFill>
              </a:defRPr>
            </a:pPr>
            <a:r>
              <a:t>🏛️ Institutional Standards &amp; Verification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✓ Ministry of Ayush (ayush.gov.in) — AYUSH GRID Compliant</a:t>
            </a:r>
            <a:br/>
            <a:r>
              <a:t>✓ NCISM &amp; NCH Regulations — Dynamic Internship Guidelines</a:t>
            </a:r>
            <a:br/>
            <a:r>
              <a:t>✓ Indian Pharmacopoeia Commission (IPC) — QC Standards</a:t>
            </a:r>
            <a:br/>
            <a:r>
              <a:t>✓ NEP 2020 &amp; Digital India — Credit-Bearing Apprenticeship Mandate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